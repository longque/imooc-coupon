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 福锋" initials="周" lastIdx="1" clrIdx="0">
    <p:extLst>
      <p:ext uri="{19B8F6BF-5375-455C-9EA6-DF929625EA0E}">
        <p15:presenceInfo xmlns:p15="http://schemas.microsoft.com/office/powerpoint/2012/main" userId="b55474ab954a8a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9A1AD-81CE-4931-BE08-4A19B1A1F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32FD00-3276-4D62-B28C-6D908304F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56F6B-4E95-4159-A6C7-26912185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40863-ECDF-40DA-ADA3-2D153B54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D9E9C5-7499-4DFC-ABD5-2E4D0C24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1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210FB-A194-493E-A63D-E2570FCF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430E4-A962-4125-B056-0B76A247A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1524A2-8D48-43FF-8E20-DC78FBB1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78D0D4-0946-4470-BF5D-9183A678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3CE24-78C2-48C6-8F3C-2C405432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00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2FF80-60C9-4FF8-B209-FA670153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F1E1A9-82C4-406B-A7BE-191F4A7CC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8C63EC-7C5E-459B-9484-70D65119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C979FD-A947-48C5-B501-F851FE0D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C918E-0799-431B-90BF-056EAB37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476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0C237-63C7-4CE2-A9FB-E51492AB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FE9640-3B13-4498-9DFB-07E415682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AB9C3A-BEB7-4D8B-B9DA-CF69A5B35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7363C9-00A2-43ED-8881-AE9E0EA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F091D4-C476-4A5D-80AE-A87FA432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9AA4FB-8CE7-4D2E-B0F6-A07BC5C2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87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A9A6D-2361-4B66-AAA8-50F3EFB8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D56141-A4CF-4A0A-B05D-C240D58A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550532-44D7-4E81-B01A-4A2E2EA3D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F4645A-75E5-4926-B8D0-B970D9E3E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72471A-75E6-476F-8E4E-BCB96A8AE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C377C2-BFD3-4116-9BFE-8BA55B62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E21C1D-AFD2-47AC-A4A5-EABBD4EB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ECC8B3-EC02-4E4B-8492-11241938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9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8F35F-BB4D-44E4-A7E4-F3C031E8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0046C2-0D3A-4816-BB49-FB5E5AD1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17C91F-1B54-42B2-B497-5151FDBC9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C3890-DD61-466E-A19C-DE0978FC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29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48FF83-CB48-44FA-AAFC-31189B13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F3D51D-99EA-4B68-80B4-9D40FF28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7D2716-7E7D-4108-AC0F-C3E7EDA7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6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71A7D-0410-445F-B5FA-0319178E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CFD0B9-C013-4170-B162-CD0D9B4D7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D7B875-20D5-4565-99FE-E057D38F4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0EDB7F-AB44-4222-9577-DBC45885C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A04DE0-FB55-49D7-B5D5-ACCC6F7FB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5456EF-26BD-4ECC-9E14-0154416A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4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36221-94BD-42A7-9C27-73E260590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96B4E1-2EC6-4946-B099-14782D2200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7FCDCB-9C23-42A2-809A-04942BA51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4C3DC0-B08F-4000-88DA-1AA1E535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5D9F68-81DB-4DE5-93FF-F94035D2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D9E9C3-DD66-4838-86DB-5FD666C2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60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58689-3F5E-4AE5-A335-C5171D31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469B2F-1BF7-4325-AE34-A1D213DF2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DA1F8-3DFF-4948-8C0E-96040FFB6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7CBAFC-00A1-48EB-8A75-540BBF87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069F7D-8AFE-45A8-A93C-BBC7CAAB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60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998D59-587A-4B31-B3F9-BC47981C8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78FA3E-B1A3-4C83-9703-409418807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1AD3B6-2C14-48BD-AEFB-3BFDD3E0C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AD563D-D72C-4A63-BC8F-160122D3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C27ADA-FCA0-4F7A-BA6F-1E82B403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27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2A1806-87BF-4F43-B36E-87ED72F6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623BB4-BC62-4F62-89DE-AEE22EB46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D4C0D9-9233-4704-BE03-37F6AF781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05DDF-0AC8-459F-829D-6A6868C8F894}" type="datetimeFigureOut">
              <a:rPr lang="zh-CN" altLang="en-US" smtClean="0"/>
              <a:t>2020/10/18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6E838-B2E2-4179-89B9-5AFC74EB6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43F386-4397-465A-927A-CD9A16A7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5B777-2EC9-44C2-943C-8D51C2B21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67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构造优惠券模板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33B2BCC-E785-47BE-930A-DD4C73B4C372}"/>
              </a:ext>
            </a:extLst>
          </p:cNvPr>
          <p:cNvCxnSpPr>
            <a:cxnSpLocks/>
          </p:cNvCxnSpPr>
          <p:nvPr/>
        </p:nvCxnSpPr>
        <p:spPr>
          <a:xfrm>
            <a:off x="5046561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ADF4A7F-55EA-4FB0-9EEF-830BA38B5C2A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550A08E-1F91-413C-BE00-0DBAB6936143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74ECEAD-EBB2-4AFB-B757-88EC1DEA0388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56EA57D-522B-4AB8-ACA3-25B0FE53EA46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1346519" y="1970329"/>
            <a:ext cx="991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F14875AC-D579-4535-8A89-257B73F45D38}"/>
              </a:ext>
            </a:extLst>
          </p:cNvPr>
          <p:cNvSpPr/>
          <p:nvPr/>
        </p:nvSpPr>
        <p:spPr>
          <a:xfrm>
            <a:off x="92596" y="1770926"/>
            <a:ext cx="1126604" cy="393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运营人员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B57D9B1-07AB-4E12-9E10-CE8A9C595399}"/>
              </a:ext>
            </a:extLst>
          </p:cNvPr>
          <p:cNvSpPr/>
          <p:nvPr/>
        </p:nvSpPr>
        <p:spPr>
          <a:xfrm>
            <a:off x="2338092" y="1599414"/>
            <a:ext cx="2492407" cy="7418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转换下请求参数存入数据库</a:t>
            </a:r>
            <a:r>
              <a:rPr lang="en-US" altLang="zh-CN" sz="1600" dirty="0"/>
              <a:t>(</a:t>
            </a:r>
            <a:r>
              <a:rPr lang="zh-CN" altLang="en-US" sz="1600" dirty="0"/>
              <a:t>默认未过期、不可用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0F9F176-59C9-4122-BD9C-9E4CB76637AF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CB557E5-AA05-49A0-866F-C4806DFD8486}"/>
              </a:ext>
            </a:extLst>
          </p:cNvPr>
          <p:cNvCxnSpPr/>
          <p:nvPr/>
        </p:nvCxnSpPr>
        <p:spPr>
          <a:xfrm flipH="1">
            <a:off x="1296362" y="2164466"/>
            <a:ext cx="10417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4B0CF16-5699-4E2D-80DF-339E3AA9C52D}"/>
              </a:ext>
            </a:extLst>
          </p:cNvPr>
          <p:cNvCxnSpPr>
            <a:stCxn id="36" idx="2"/>
          </p:cNvCxnSpPr>
          <p:nvPr/>
        </p:nvCxnSpPr>
        <p:spPr>
          <a:xfrm flipH="1">
            <a:off x="3584295" y="2341244"/>
            <a:ext cx="1" cy="818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70C2A778-3A1E-43EB-BBF9-B08499167CB6}"/>
              </a:ext>
            </a:extLst>
          </p:cNvPr>
          <p:cNvSpPr/>
          <p:nvPr/>
        </p:nvSpPr>
        <p:spPr>
          <a:xfrm>
            <a:off x="2338084" y="3159889"/>
            <a:ext cx="2492407" cy="109958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优惠券码</a:t>
            </a:r>
            <a:r>
              <a:rPr lang="en-US" altLang="zh-CN" sz="1400" dirty="0"/>
              <a:t>:</a:t>
            </a:r>
            <a:r>
              <a:rPr lang="zh-CN" altLang="en-US" sz="1400" dirty="0"/>
              <a:t>产品线</a:t>
            </a:r>
            <a:r>
              <a:rPr lang="en-US" altLang="zh-CN" sz="1400" dirty="0"/>
              <a:t>&amp;</a:t>
            </a:r>
            <a:r>
              <a:rPr lang="zh-CN" altLang="en-US" sz="1400" dirty="0"/>
              <a:t>类型</a:t>
            </a:r>
            <a:r>
              <a:rPr lang="en-US" altLang="zh-CN" sz="1400" dirty="0"/>
              <a:t>(4)+</a:t>
            </a:r>
            <a:r>
              <a:rPr lang="zh-CN" altLang="en-US" sz="1400" dirty="0"/>
              <a:t>日期</a:t>
            </a:r>
            <a:r>
              <a:rPr lang="en-US" altLang="zh-CN" sz="1400" dirty="0"/>
              <a:t>(6)+</a:t>
            </a:r>
            <a:r>
              <a:rPr lang="zh-CN" altLang="en-US" sz="1400" dirty="0"/>
              <a:t>随机码</a:t>
            </a:r>
            <a:r>
              <a:rPr lang="en-US" altLang="zh-CN" sz="1400" dirty="0"/>
              <a:t>(8)</a:t>
            </a:r>
            <a:r>
              <a:rPr lang="zh-CN" altLang="en-US" sz="1400" dirty="0"/>
              <a:t>，随机生成指定个数，</a:t>
            </a:r>
            <a:r>
              <a:rPr lang="en-US" altLang="zh-CN" sz="1400" dirty="0"/>
              <a:t>Set</a:t>
            </a:r>
            <a:r>
              <a:rPr lang="zh-CN" altLang="en-US" sz="1400" dirty="0"/>
              <a:t>去重，</a:t>
            </a:r>
            <a:r>
              <a:rPr lang="en-US" altLang="zh-CN" sz="1400" dirty="0"/>
              <a:t>while(</a:t>
            </a:r>
            <a:r>
              <a:rPr lang="en-US" altLang="zh-CN" sz="1400" dirty="0" err="1"/>
              <a:t>set.size</a:t>
            </a:r>
            <a:r>
              <a:rPr lang="en-US" altLang="zh-CN" sz="1400" dirty="0"/>
              <a:t>()&lt;</a:t>
            </a:r>
            <a:r>
              <a:rPr lang="zh-CN" altLang="en-US" sz="1400" dirty="0"/>
              <a:t>指定数量</a:t>
            </a:r>
            <a:r>
              <a:rPr lang="en-US" altLang="zh-CN" sz="1400" dirty="0"/>
              <a:t>)</a:t>
            </a:r>
            <a:r>
              <a:rPr lang="zh-CN" altLang="en-US" sz="1400" dirty="0"/>
              <a:t>继续生成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877A01E-E651-4A45-8054-ADFA3D44CFA7}"/>
              </a:ext>
            </a:extLst>
          </p:cNvPr>
          <p:cNvSpPr txBox="1"/>
          <p:nvPr/>
        </p:nvSpPr>
        <p:spPr>
          <a:xfrm>
            <a:off x="2919047" y="2566166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异步生成优惠券码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9B11F8D-1209-442C-9A2C-40B0EFE1DF6C}"/>
              </a:ext>
            </a:extLst>
          </p:cNvPr>
          <p:cNvSpPr/>
          <p:nvPr/>
        </p:nvSpPr>
        <p:spPr>
          <a:xfrm>
            <a:off x="2338082" y="4825594"/>
            <a:ext cx="2492406" cy="7418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优惠券码存入</a:t>
            </a:r>
            <a:r>
              <a:rPr lang="en-US" altLang="zh-CN" sz="1600" dirty="0" err="1"/>
              <a:t>redis</a:t>
            </a:r>
            <a:r>
              <a:rPr lang="en-US" altLang="zh-CN" sz="1600" dirty="0"/>
              <a:t>-list</a:t>
            </a:r>
            <a:r>
              <a:rPr lang="zh-CN" altLang="en-US" sz="1600" dirty="0"/>
              <a:t>，设置优惠券模板可用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B2BAD6B-E74F-416C-9C95-8860AD3746DB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 flipH="1">
            <a:off x="3584285" y="4259476"/>
            <a:ext cx="3" cy="566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607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优惠券模板</a:t>
            </a:r>
            <a:r>
              <a:rPr lang="en-US" altLang="zh-CN" dirty="0"/>
              <a:t>id</a:t>
            </a:r>
            <a:r>
              <a:rPr lang="zh-CN" altLang="en-US" dirty="0"/>
              <a:t>获取优惠券模板信息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6D12D6C-C291-4612-A0BB-04A2868D63BF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7BAF664-C50E-4E75-90CA-918A87EE628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346519" y="1970329"/>
            <a:ext cx="991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049D396-8298-4EAD-8B1D-F8D3EFF69CC2}"/>
              </a:ext>
            </a:extLst>
          </p:cNvPr>
          <p:cNvSpPr/>
          <p:nvPr/>
        </p:nvSpPr>
        <p:spPr>
          <a:xfrm>
            <a:off x="2338092" y="1599414"/>
            <a:ext cx="2492407" cy="7418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传入</a:t>
            </a:r>
            <a:r>
              <a:rPr lang="en-US" altLang="zh-CN" sz="1600" dirty="0"/>
              <a:t>id</a:t>
            </a:r>
            <a:r>
              <a:rPr lang="zh-CN" altLang="en-US" sz="1600" dirty="0"/>
              <a:t>，查询返回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8D7B79-CE49-41C7-9457-CDDB7DEDC0AF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C641BA8-22F1-4D9E-BD29-F93CF8C0F2A2}"/>
              </a:ext>
            </a:extLst>
          </p:cNvPr>
          <p:cNvCxnSpPr/>
          <p:nvPr/>
        </p:nvCxnSpPr>
        <p:spPr>
          <a:xfrm flipH="1">
            <a:off x="1296362" y="2210764"/>
            <a:ext cx="10417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158B5BE-7633-444A-8265-79A1020CA4C6}"/>
              </a:ext>
            </a:extLst>
          </p:cNvPr>
          <p:cNvCxnSpPr>
            <a:cxnSpLocks/>
          </p:cNvCxnSpPr>
          <p:nvPr/>
        </p:nvCxnSpPr>
        <p:spPr>
          <a:xfrm>
            <a:off x="5046561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41DAF8A-2299-4592-89E1-620F49C61029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04DA961-D5F4-4C78-8A09-8652DA398401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16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查询可用模板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5046561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4A1F26-0E7F-4B5B-9704-2A75A1520DF5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42C2D7-646D-4B9F-9729-020598B960D0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1FFE627-3FBD-4938-9C34-5EC4DD00AF71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46519" y="1970329"/>
            <a:ext cx="991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71D0AE3-377B-44C7-9B18-72E9923F0AC2}"/>
              </a:ext>
            </a:extLst>
          </p:cNvPr>
          <p:cNvSpPr/>
          <p:nvPr/>
        </p:nvSpPr>
        <p:spPr>
          <a:xfrm>
            <a:off x="2338092" y="1599414"/>
            <a:ext cx="2492407" cy="7418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无参，可用且未过期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4B0843-3A85-4E4C-9CBD-EB7D9A25F102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A05DACD-5B1E-4F24-BAA2-42B7DBEF4D16}"/>
              </a:ext>
            </a:extLst>
          </p:cNvPr>
          <p:cNvCxnSpPr/>
          <p:nvPr/>
        </p:nvCxnSpPr>
        <p:spPr>
          <a:xfrm flipH="1">
            <a:off x="1296362" y="2210764"/>
            <a:ext cx="10417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69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根据</a:t>
            </a:r>
            <a:r>
              <a:rPr lang="en-US" altLang="zh-CN" dirty="0"/>
              <a:t>ids</a:t>
            </a:r>
            <a:r>
              <a:rPr lang="zh-CN" altLang="en-US" dirty="0"/>
              <a:t>获取所有的优惠券模板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5046561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4A1F26-0E7F-4B5B-9704-2A75A1520DF5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42C2D7-646D-4B9F-9729-020598B960D0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1FFE627-3FBD-4938-9C34-5EC4DD00AF71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346519" y="1970329"/>
            <a:ext cx="991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71D0AE3-377B-44C7-9B18-72E9923F0AC2}"/>
              </a:ext>
            </a:extLst>
          </p:cNvPr>
          <p:cNvSpPr/>
          <p:nvPr/>
        </p:nvSpPr>
        <p:spPr>
          <a:xfrm>
            <a:off x="2338092" y="1599414"/>
            <a:ext cx="2492407" cy="7418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模板</a:t>
            </a:r>
            <a:r>
              <a:rPr lang="en-US" altLang="zh-CN" sz="1600" dirty="0"/>
              <a:t>ids</a:t>
            </a:r>
            <a:r>
              <a:rPr lang="zh-CN" altLang="en-US" sz="1600" dirty="0"/>
              <a:t>查模板返回</a:t>
            </a:r>
            <a:r>
              <a:rPr lang="en-US" altLang="zh-CN" sz="1600" dirty="0"/>
              <a:t>Map&lt;</a:t>
            </a:r>
            <a:r>
              <a:rPr lang="en-US" altLang="zh-CN" sz="1600" dirty="0" err="1"/>
              <a:t>Integer,Object</a:t>
            </a:r>
            <a:r>
              <a:rPr lang="en-US" altLang="zh-CN" sz="1600" dirty="0"/>
              <a:t>&gt;</a:t>
            </a:r>
            <a:endParaRPr lang="zh-CN" altLang="en-US" sz="16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4B0843-3A85-4E4C-9CBD-EB7D9A25F102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A05DACD-5B1E-4F24-BAA2-42B7DBEF4D16}"/>
              </a:ext>
            </a:extLst>
          </p:cNvPr>
          <p:cNvCxnSpPr/>
          <p:nvPr/>
        </p:nvCxnSpPr>
        <p:spPr>
          <a:xfrm flipH="1">
            <a:off x="1296362" y="2210764"/>
            <a:ext cx="10417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21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过期模板下线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5046561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4A1F26-0E7F-4B5B-9704-2A75A1520DF5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42C2D7-646D-4B9F-9729-020598B960D0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103F43-6AD9-4625-9BE7-156058DD8B24}"/>
              </a:ext>
            </a:extLst>
          </p:cNvPr>
          <p:cNvSpPr/>
          <p:nvPr/>
        </p:nvSpPr>
        <p:spPr>
          <a:xfrm>
            <a:off x="2170256" y="1599414"/>
            <a:ext cx="2660244" cy="7418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定时任务，</a:t>
            </a:r>
            <a:r>
              <a:rPr lang="en-US" altLang="zh-CN" sz="1600" dirty="0"/>
              <a:t>1h</a:t>
            </a:r>
            <a:r>
              <a:rPr lang="zh-CN" altLang="en-US" sz="1600" dirty="0"/>
              <a:t>扫描数据库未过期模板，按照规则的过期时间判断，并写回数据库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C0BA7F-4C9C-44EA-80A2-6D6973530847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</p:spTree>
    <p:extLst>
      <p:ext uri="{BB962C8B-B14F-4D97-AF65-F5344CB8AC3E}">
        <p14:creationId xmlns:p14="http://schemas.microsoft.com/office/powerpoint/2010/main" val="37397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根据用户</a:t>
            </a:r>
            <a:r>
              <a:rPr lang="en-US" altLang="zh-CN" dirty="0"/>
              <a:t>id</a:t>
            </a:r>
            <a:r>
              <a:rPr lang="zh-CN" altLang="en-US" dirty="0"/>
              <a:t>和优惠券状态查找用户优惠券</a:t>
            </a:r>
            <a:r>
              <a:rPr lang="zh-CN" altLang="en-US" dirty="0">
                <a:solidFill>
                  <a:srgbClr val="FF0000"/>
                </a:solidFill>
              </a:rPr>
              <a:t>①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4A1F26-0E7F-4B5B-9704-2A75A1520DF5}"/>
              </a:ext>
            </a:extLst>
          </p:cNvPr>
          <p:cNvCxnSpPr>
            <a:cxnSpLocks/>
          </p:cNvCxnSpPr>
          <p:nvPr/>
        </p:nvCxnSpPr>
        <p:spPr>
          <a:xfrm>
            <a:off x="6188597" y="1250066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42C2D7-646D-4B9F-9729-020598B960D0}"/>
              </a:ext>
            </a:extLst>
          </p:cNvPr>
          <p:cNvCxnSpPr>
            <a:cxnSpLocks/>
          </p:cNvCxnSpPr>
          <p:nvPr/>
        </p:nvCxnSpPr>
        <p:spPr>
          <a:xfrm>
            <a:off x="9433367" y="116504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FA50B6A-FFA0-443C-B450-2CBFBB3F0C1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346519" y="1970329"/>
            <a:ext cx="991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888B9D62-094F-495A-B2D2-E6B9517B432A}"/>
              </a:ext>
            </a:extLst>
          </p:cNvPr>
          <p:cNvSpPr/>
          <p:nvPr/>
        </p:nvSpPr>
        <p:spPr>
          <a:xfrm>
            <a:off x="2338092" y="1599414"/>
            <a:ext cx="2685318" cy="7418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500" dirty="0"/>
              <a:t>Redis</a:t>
            </a:r>
            <a:r>
              <a:rPr lang="zh-CN" altLang="en-US" sz="1500" dirty="0"/>
              <a:t>用</a:t>
            </a:r>
            <a:r>
              <a:rPr lang="en-US" altLang="zh-CN" sz="1500" dirty="0"/>
              <a:t>id</a:t>
            </a:r>
            <a:r>
              <a:rPr lang="zh-CN" altLang="en-US" sz="1500" dirty="0"/>
              <a:t>状态获取优惠券，不存在时返回空优惠券并在</a:t>
            </a:r>
            <a:r>
              <a:rPr lang="en-US" altLang="zh-CN" sz="1500" dirty="0" err="1"/>
              <a:t>redis</a:t>
            </a:r>
            <a:r>
              <a:rPr lang="zh-CN" altLang="en-US" sz="1500" dirty="0"/>
              <a:t>塞入非法优惠券（缓存穿透）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2C7A9EE-551A-40E4-8ECB-C9F32196C523}"/>
              </a:ext>
            </a:extLst>
          </p:cNvPr>
          <p:cNvCxnSpPr/>
          <p:nvPr/>
        </p:nvCxnSpPr>
        <p:spPr>
          <a:xfrm flipH="1">
            <a:off x="1296362" y="3297509"/>
            <a:ext cx="10417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867B927-DF85-4A2A-85FF-66121C469CF8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分发模块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98336AF-33D9-4C22-97B8-9D6A41917657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3680748" y="2341244"/>
            <a:ext cx="3" cy="313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7E302A9-A9CF-43B2-8683-056D4B4A58A4}"/>
              </a:ext>
            </a:extLst>
          </p:cNvPr>
          <p:cNvSpPr txBox="1"/>
          <p:nvPr/>
        </p:nvSpPr>
        <p:spPr>
          <a:xfrm>
            <a:off x="3667262" y="2341534"/>
            <a:ext cx="42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D619DF-6630-423A-863A-1B10CF5201A0}"/>
              </a:ext>
            </a:extLst>
          </p:cNvPr>
          <p:cNvSpPr/>
          <p:nvPr/>
        </p:nvSpPr>
        <p:spPr>
          <a:xfrm>
            <a:off x="2338092" y="2654547"/>
            <a:ext cx="2685312" cy="6591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根据用户</a:t>
            </a:r>
            <a:r>
              <a:rPr lang="en-US" altLang="zh-CN" sz="1600" dirty="0"/>
              <a:t>id</a:t>
            </a:r>
            <a:r>
              <a:rPr lang="zh-CN" altLang="en-US" sz="1600" dirty="0"/>
              <a:t>状态查数据库获得优惠券信息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718B58-14A3-43C3-B0B5-678F8C680724}"/>
              </a:ext>
            </a:extLst>
          </p:cNvPr>
          <p:cNvSpPr txBox="1"/>
          <p:nvPr/>
        </p:nvSpPr>
        <p:spPr>
          <a:xfrm>
            <a:off x="1525559" y="30115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646DA2-6343-465F-9AF8-E579FCC12637}"/>
              </a:ext>
            </a:extLst>
          </p:cNvPr>
          <p:cNvSpPr txBox="1"/>
          <p:nvPr/>
        </p:nvSpPr>
        <p:spPr>
          <a:xfrm>
            <a:off x="7249615" y="1240336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A5C2D5C-E638-46BC-91FB-D7ED4D07F7E3}"/>
              </a:ext>
            </a:extLst>
          </p:cNvPr>
          <p:cNvCxnSpPr>
            <a:cxnSpLocks/>
          </p:cNvCxnSpPr>
          <p:nvPr/>
        </p:nvCxnSpPr>
        <p:spPr>
          <a:xfrm flipV="1">
            <a:off x="5023404" y="3051298"/>
            <a:ext cx="15760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D171412A-E4E4-4F98-AEF9-22BC06834EDA}"/>
              </a:ext>
            </a:extLst>
          </p:cNvPr>
          <p:cNvSpPr/>
          <p:nvPr/>
        </p:nvSpPr>
        <p:spPr>
          <a:xfrm>
            <a:off x="6599490" y="2921369"/>
            <a:ext cx="2685312" cy="65919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根据用户</a:t>
            </a:r>
            <a:r>
              <a:rPr lang="en-US" altLang="zh-CN" sz="1600" dirty="0"/>
              <a:t>id</a:t>
            </a:r>
            <a:r>
              <a:rPr lang="zh-CN" altLang="en-US" sz="1600" dirty="0"/>
              <a:t>状态查数据库获得优惠券信息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CED4366-693D-4ABF-9DAC-5A05D2DBE2FD}"/>
              </a:ext>
            </a:extLst>
          </p:cNvPr>
          <p:cNvCxnSpPr/>
          <p:nvPr/>
        </p:nvCxnSpPr>
        <p:spPr>
          <a:xfrm flipH="1">
            <a:off x="5023404" y="3298598"/>
            <a:ext cx="157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5E2F4B1-8DEB-4D6D-BA2D-7388CF685C99}"/>
              </a:ext>
            </a:extLst>
          </p:cNvPr>
          <p:cNvCxnSpPr>
            <a:cxnSpLocks/>
            <a:stCxn id="15" idx="2"/>
            <a:endCxn id="36" idx="0"/>
          </p:cNvCxnSpPr>
          <p:nvPr/>
        </p:nvCxnSpPr>
        <p:spPr>
          <a:xfrm>
            <a:off x="3680748" y="3313746"/>
            <a:ext cx="0" cy="357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1A0705D-21C5-4C50-AFA7-7629FD79322D}"/>
              </a:ext>
            </a:extLst>
          </p:cNvPr>
          <p:cNvSpPr txBox="1"/>
          <p:nvPr/>
        </p:nvSpPr>
        <p:spPr>
          <a:xfrm>
            <a:off x="5469003" y="2736703"/>
            <a:ext cx="78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C8144BF-B49C-4515-8093-0736AECD433E}"/>
              </a:ext>
            </a:extLst>
          </p:cNvPr>
          <p:cNvSpPr/>
          <p:nvPr/>
        </p:nvSpPr>
        <p:spPr>
          <a:xfrm>
            <a:off x="2338092" y="3671042"/>
            <a:ext cx="2685312" cy="55502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优惠券基本信息</a:t>
            </a:r>
            <a:r>
              <a:rPr lang="en-US" altLang="zh-CN" sz="1600" dirty="0"/>
              <a:t>+</a:t>
            </a:r>
            <a:r>
              <a:rPr lang="zh-CN" altLang="en-US" sz="1600" dirty="0"/>
              <a:t>模板构造完整优惠券，存入</a:t>
            </a:r>
            <a:r>
              <a:rPr lang="en-US" altLang="zh-CN" sz="1600" dirty="0" err="1"/>
              <a:t>redis</a:t>
            </a:r>
            <a:endParaRPr lang="zh-CN" altLang="en-US" sz="1600" dirty="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8B82E12-D100-4F9A-BE20-5D603DE3D4E3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5023404" y="3948556"/>
            <a:ext cx="4653031" cy="28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ACD5C576-952D-4F3A-A05D-F272BAE63290}"/>
              </a:ext>
            </a:extLst>
          </p:cNvPr>
          <p:cNvSpPr txBox="1"/>
          <p:nvPr/>
        </p:nvSpPr>
        <p:spPr>
          <a:xfrm>
            <a:off x="7324854" y="3793144"/>
            <a:ext cx="1456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具体操作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26446A2-53B9-4D0E-8E38-D9A520901E71}"/>
              </a:ext>
            </a:extLst>
          </p:cNvPr>
          <p:cNvSpPr txBox="1"/>
          <p:nvPr/>
        </p:nvSpPr>
        <p:spPr>
          <a:xfrm>
            <a:off x="9583838" y="1222281"/>
            <a:ext cx="2565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Redis</a:t>
            </a:r>
            <a:r>
              <a:rPr lang="zh-CN" altLang="en-US" sz="1600" b="1" dirty="0"/>
              <a:t>按状态分类存优惠券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4C46259-C45E-4D3D-B3E8-FC30C023DFDF}"/>
              </a:ext>
            </a:extLst>
          </p:cNvPr>
          <p:cNvSpPr/>
          <p:nvPr/>
        </p:nvSpPr>
        <p:spPr>
          <a:xfrm>
            <a:off x="9853908" y="1817225"/>
            <a:ext cx="2079588" cy="5239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可用</a:t>
            </a:r>
            <a:r>
              <a:rPr lang="en-US" altLang="zh-CN" sz="1600" dirty="0"/>
              <a:t>:</a:t>
            </a:r>
            <a:r>
              <a:rPr lang="zh-CN" altLang="en-US" sz="1600" dirty="0"/>
              <a:t>直接存，设置过期时间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55679E4-86E1-44FA-9E7B-C1E6DBF083DA}"/>
              </a:ext>
            </a:extLst>
          </p:cNvPr>
          <p:cNvSpPr/>
          <p:nvPr/>
        </p:nvSpPr>
        <p:spPr>
          <a:xfrm>
            <a:off x="9844259" y="2597528"/>
            <a:ext cx="2089237" cy="11371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500" dirty="0"/>
              <a:t>已用</a:t>
            </a:r>
            <a:r>
              <a:rPr lang="en-US" altLang="zh-CN" sz="1500" dirty="0"/>
              <a:t>:</a:t>
            </a:r>
            <a:r>
              <a:rPr lang="zh-CN" altLang="en-US" sz="1500" dirty="0"/>
              <a:t>读</a:t>
            </a:r>
            <a:r>
              <a:rPr lang="en-US" altLang="zh-CN" sz="1500" dirty="0" err="1"/>
              <a:t>redis</a:t>
            </a:r>
            <a:r>
              <a:rPr lang="zh-CN" altLang="en-US" sz="1500" dirty="0"/>
              <a:t>可用券</a:t>
            </a:r>
            <a:r>
              <a:rPr lang="en-US" altLang="zh-CN" sz="1500" dirty="0"/>
              <a:t>(</a:t>
            </a:r>
            <a:r>
              <a:rPr lang="zh-CN" altLang="en-US" sz="1500" dirty="0"/>
              <a:t>用</a:t>
            </a:r>
            <a:r>
              <a:rPr lang="zh-CN" altLang="en-US" sz="1500" dirty="0">
                <a:solidFill>
                  <a:srgbClr val="FF0000"/>
                </a:solidFill>
              </a:rPr>
              <a:t>①</a:t>
            </a:r>
            <a:r>
              <a:rPr lang="en-US" altLang="zh-CN" sz="1500" dirty="0"/>
              <a:t>)</a:t>
            </a:r>
            <a:r>
              <a:rPr lang="zh-CN" altLang="en-US" sz="1500" dirty="0"/>
              <a:t>，比较已用券</a:t>
            </a:r>
            <a:r>
              <a:rPr lang="en-US" altLang="zh-CN" sz="1500" dirty="0"/>
              <a:t>id</a:t>
            </a:r>
            <a:r>
              <a:rPr lang="zh-CN" altLang="en-US" sz="1500" dirty="0"/>
              <a:t>是否是可用子集，</a:t>
            </a:r>
            <a:r>
              <a:rPr lang="en-US" altLang="zh-CN" sz="1500" dirty="0" err="1"/>
              <a:t>redis</a:t>
            </a:r>
            <a:r>
              <a:rPr lang="zh-CN" altLang="en-US" sz="1500" dirty="0"/>
              <a:t>删除可用，添加已用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19CEDA2-E45B-4E51-AD14-00F772052C85}"/>
              </a:ext>
            </a:extLst>
          </p:cNvPr>
          <p:cNvSpPr/>
          <p:nvPr/>
        </p:nvSpPr>
        <p:spPr>
          <a:xfrm>
            <a:off x="9826903" y="4516864"/>
            <a:ext cx="2079588" cy="9802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过期</a:t>
            </a:r>
            <a:r>
              <a:rPr lang="en-US" altLang="zh-CN" sz="1600" dirty="0"/>
              <a:t>:</a:t>
            </a:r>
            <a:r>
              <a:rPr lang="zh-CN" altLang="en-US" sz="1600" dirty="0"/>
              <a:t>逻辑同已用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F6C7931-7981-4E16-99A7-4ED4659613F6}"/>
              </a:ext>
            </a:extLst>
          </p:cNvPr>
          <p:cNvSpPr/>
          <p:nvPr/>
        </p:nvSpPr>
        <p:spPr>
          <a:xfrm>
            <a:off x="2324606" y="4583364"/>
            <a:ext cx="2685312" cy="9956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因为定期扫描优惠券修改过期，如果查可用时需要判断过期并把过期添加</a:t>
            </a:r>
            <a:r>
              <a:rPr lang="en-US" altLang="zh-CN" sz="1600" dirty="0" err="1"/>
              <a:t>redis</a:t>
            </a:r>
            <a:r>
              <a:rPr lang="zh-CN" altLang="en-US" sz="1600" dirty="0"/>
              <a:t>，投递</a:t>
            </a:r>
            <a:r>
              <a:rPr lang="en-US" altLang="zh-CN" sz="1600" dirty="0" err="1"/>
              <a:t>kafka</a:t>
            </a:r>
            <a:r>
              <a:rPr lang="zh-CN" altLang="en-US" sz="1600" dirty="0"/>
              <a:t>修改数据库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46F36E80-DBE1-43D9-AD6D-55254DE7A7BC}"/>
              </a:ext>
            </a:extLst>
          </p:cNvPr>
          <p:cNvCxnSpPr>
            <a:cxnSpLocks/>
            <a:stCxn id="36" idx="2"/>
            <a:endCxn id="73" idx="0"/>
          </p:cNvCxnSpPr>
          <p:nvPr/>
        </p:nvCxnSpPr>
        <p:spPr>
          <a:xfrm flipH="1">
            <a:off x="3667262" y="4226069"/>
            <a:ext cx="13486" cy="35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FEF49FAA-7199-4602-98A7-5F2479A37CF0}"/>
              </a:ext>
            </a:extLst>
          </p:cNvPr>
          <p:cNvCxnSpPr>
            <a:cxnSpLocks/>
            <a:stCxn id="11" idx="3"/>
            <a:endCxn id="73" idx="3"/>
          </p:cNvCxnSpPr>
          <p:nvPr/>
        </p:nvCxnSpPr>
        <p:spPr>
          <a:xfrm flipH="1">
            <a:off x="5009918" y="1970329"/>
            <a:ext cx="13492" cy="3110851"/>
          </a:xfrm>
          <a:prstGeom prst="bentConnector3">
            <a:avLst>
              <a:gd name="adj1" fmla="val -169433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3C04510A-4EBD-487E-8E29-C9F0984126E5}"/>
              </a:ext>
            </a:extLst>
          </p:cNvPr>
          <p:cNvSpPr txBox="1"/>
          <p:nvPr/>
        </p:nvSpPr>
        <p:spPr>
          <a:xfrm>
            <a:off x="4942359" y="2231823"/>
            <a:ext cx="70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非空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B16543DB-24B7-44E0-A4EC-33420FADBEED}"/>
              </a:ext>
            </a:extLst>
          </p:cNvPr>
          <p:cNvCxnSpPr/>
          <p:nvPr/>
        </p:nvCxnSpPr>
        <p:spPr>
          <a:xfrm flipH="1">
            <a:off x="1296362" y="5393803"/>
            <a:ext cx="10282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01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根据用户</a:t>
            </a:r>
            <a:r>
              <a:rPr lang="en-US" altLang="zh-CN" dirty="0"/>
              <a:t>id</a:t>
            </a:r>
            <a:r>
              <a:rPr lang="zh-CN" altLang="en-US" dirty="0"/>
              <a:t>查找当前可领取的优惠券模板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459514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4A1F26-0E7F-4B5B-9704-2A75A1520DF5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42C2D7-646D-4B9F-9729-020598B960D0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0B27897-C7D0-4AEA-9AD3-958B9583330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163256" y="1956122"/>
            <a:ext cx="14699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AF986F6-BF7A-41CD-A5FA-6B2604FF4AC9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分发模块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0B464A-EB55-43A4-B883-3170895FC996}"/>
              </a:ext>
            </a:extLst>
          </p:cNvPr>
          <p:cNvSpPr/>
          <p:nvPr/>
        </p:nvSpPr>
        <p:spPr>
          <a:xfrm>
            <a:off x="2633243" y="1713053"/>
            <a:ext cx="135423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调用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CC299AC-BC6B-462D-BB7A-4AB5EBF56698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3987476" y="1956122"/>
            <a:ext cx="10938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B022828-2A45-44DB-989B-D9CD67F4FD5B}"/>
              </a:ext>
            </a:extLst>
          </p:cNvPr>
          <p:cNvSpPr/>
          <p:nvPr/>
        </p:nvSpPr>
        <p:spPr>
          <a:xfrm>
            <a:off x="5081289" y="1713053"/>
            <a:ext cx="1686037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查询所有可用且未过期模板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5D0B80-1CC3-4728-9AE3-1FF36958ACF0}"/>
              </a:ext>
            </a:extLst>
          </p:cNvPr>
          <p:cNvSpPr txBox="1"/>
          <p:nvPr/>
        </p:nvSpPr>
        <p:spPr>
          <a:xfrm>
            <a:off x="5287706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4534E14-35A0-4B1C-B677-36C4D1B2B060}"/>
              </a:ext>
            </a:extLst>
          </p:cNvPr>
          <p:cNvCxnSpPr>
            <a:cxnSpLocks/>
          </p:cNvCxnSpPr>
          <p:nvPr/>
        </p:nvCxnSpPr>
        <p:spPr>
          <a:xfrm flipH="1">
            <a:off x="3987476" y="2118167"/>
            <a:ext cx="10938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315EC39-556D-4B44-8A9A-D7AEC6F456FA}"/>
              </a:ext>
            </a:extLst>
          </p:cNvPr>
          <p:cNvCxnSpPr>
            <a:cxnSpLocks/>
            <a:stCxn id="9" idx="2"/>
            <a:endCxn id="31" idx="0"/>
          </p:cNvCxnSpPr>
          <p:nvPr/>
        </p:nvCxnSpPr>
        <p:spPr>
          <a:xfrm>
            <a:off x="3310360" y="2199190"/>
            <a:ext cx="0" cy="34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855F482C-2EF1-4FDA-BF26-F90695C4FA19}"/>
              </a:ext>
            </a:extLst>
          </p:cNvPr>
          <p:cNvSpPr/>
          <p:nvPr/>
        </p:nvSpPr>
        <p:spPr>
          <a:xfrm>
            <a:off x="2264780" y="2546430"/>
            <a:ext cx="2091159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判断过期时间过滤已过期模板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F9DB5FF-223C-4AF5-8AA6-56F9E7D3C24D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>
            <a:off x="3310360" y="3032567"/>
            <a:ext cx="1932" cy="428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CB657E5-9A1C-4D21-BDFD-1D074491D785}"/>
              </a:ext>
            </a:extLst>
          </p:cNvPr>
          <p:cNvSpPr/>
          <p:nvPr/>
        </p:nvSpPr>
        <p:spPr>
          <a:xfrm>
            <a:off x="2635175" y="3460829"/>
            <a:ext cx="135423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从</a:t>
            </a:r>
            <a:r>
              <a:rPr lang="en-US" altLang="zh-CN" sz="1600" dirty="0" err="1"/>
              <a:t>redis</a:t>
            </a:r>
            <a:r>
              <a:rPr lang="zh-CN" altLang="en-US" sz="1600" dirty="0"/>
              <a:t>获取可用优惠券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34F6689-6DB7-4B2C-9224-0A9EDD4F8C69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 flipH="1">
            <a:off x="3310355" y="3946966"/>
            <a:ext cx="1937" cy="428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B1CAE405-3F58-46FD-953C-47F0AC4D6EC9}"/>
              </a:ext>
            </a:extLst>
          </p:cNvPr>
          <p:cNvSpPr/>
          <p:nvPr/>
        </p:nvSpPr>
        <p:spPr>
          <a:xfrm>
            <a:off x="2264775" y="4375228"/>
            <a:ext cx="2091159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比较模板的领取上限，未达上限的模板返回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4A69D0A-84C9-4BB6-A62A-381A2C247D8B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1296362" y="4618297"/>
            <a:ext cx="9684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970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用户领取优惠券</a:t>
            </a:r>
            <a:r>
              <a:rPr lang="en-US" altLang="zh-CN" dirty="0"/>
              <a:t>(</a:t>
            </a:r>
            <a:r>
              <a:rPr lang="zh-CN" altLang="en-US" dirty="0"/>
              <a:t>单张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459514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4A1F26-0E7F-4B5B-9704-2A75A1520DF5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42C2D7-646D-4B9F-9729-020598B960D0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0B27897-C7D0-4AEA-9AD3-958B9583330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163256" y="1956122"/>
            <a:ext cx="14699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AF986F6-BF7A-41CD-A5FA-6B2604FF4AC9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分发模块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0B464A-EB55-43A4-B883-3170895FC996}"/>
              </a:ext>
            </a:extLst>
          </p:cNvPr>
          <p:cNvSpPr/>
          <p:nvPr/>
        </p:nvSpPr>
        <p:spPr>
          <a:xfrm>
            <a:off x="2633243" y="1713053"/>
            <a:ext cx="135423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调用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CC299AC-BC6B-462D-BB7A-4AB5EBF56698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>
            <a:off x="3987476" y="1956122"/>
            <a:ext cx="10938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B022828-2A45-44DB-989B-D9CD67F4FD5B}"/>
              </a:ext>
            </a:extLst>
          </p:cNvPr>
          <p:cNvSpPr/>
          <p:nvPr/>
        </p:nvSpPr>
        <p:spPr>
          <a:xfrm>
            <a:off x="5081289" y="1713053"/>
            <a:ext cx="1686037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模板</a:t>
            </a:r>
            <a:r>
              <a:rPr lang="en-US" altLang="zh-CN" sz="1600" dirty="0"/>
              <a:t>ids</a:t>
            </a:r>
            <a:r>
              <a:rPr lang="zh-CN" altLang="en-US" sz="1600" dirty="0"/>
              <a:t>获取模板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5D0B80-1CC3-4728-9AE3-1FF36958ACF0}"/>
              </a:ext>
            </a:extLst>
          </p:cNvPr>
          <p:cNvSpPr txBox="1"/>
          <p:nvPr/>
        </p:nvSpPr>
        <p:spPr>
          <a:xfrm>
            <a:off x="5287706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模板模块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4534E14-35A0-4B1C-B677-36C4D1B2B060}"/>
              </a:ext>
            </a:extLst>
          </p:cNvPr>
          <p:cNvCxnSpPr>
            <a:cxnSpLocks/>
          </p:cNvCxnSpPr>
          <p:nvPr/>
        </p:nvCxnSpPr>
        <p:spPr>
          <a:xfrm flipH="1">
            <a:off x="3987476" y="2118167"/>
            <a:ext cx="10938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315EC39-556D-4B44-8A9A-D7AEC6F456FA}"/>
              </a:ext>
            </a:extLst>
          </p:cNvPr>
          <p:cNvCxnSpPr>
            <a:cxnSpLocks/>
            <a:stCxn id="9" idx="2"/>
            <a:endCxn id="31" idx="0"/>
          </p:cNvCxnSpPr>
          <p:nvPr/>
        </p:nvCxnSpPr>
        <p:spPr>
          <a:xfrm flipH="1">
            <a:off x="3310359" y="2199190"/>
            <a:ext cx="1" cy="18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855F482C-2EF1-4FDA-BF26-F90695C4FA19}"/>
              </a:ext>
            </a:extLst>
          </p:cNvPr>
          <p:cNvSpPr/>
          <p:nvPr/>
        </p:nvSpPr>
        <p:spPr>
          <a:xfrm>
            <a:off x="2164473" y="2384383"/>
            <a:ext cx="2291772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用户</a:t>
            </a:r>
            <a:r>
              <a:rPr lang="en-US" altLang="zh-CN" sz="1600" dirty="0"/>
              <a:t>id</a:t>
            </a:r>
            <a:r>
              <a:rPr lang="zh-CN" altLang="en-US" sz="1600" dirty="0"/>
              <a:t>状态查可用券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F9DB5FF-223C-4AF5-8AA6-56F9E7D3C24D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>
            <a:off x="3310359" y="2870520"/>
            <a:ext cx="1933" cy="18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CB657E5-9A1C-4D21-BDFD-1D074491D785}"/>
              </a:ext>
            </a:extLst>
          </p:cNvPr>
          <p:cNvSpPr/>
          <p:nvPr/>
        </p:nvSpPr>
        <p:spPr>
          <a:xfrm>
            <a:off x="2635175" y="3055714"/>
            <a:ext cx="135423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比较模板领取上限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34F6689-6DB7-4B2C-9224-0A9EDD4F8C69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>
            <a:off x="3312292" y="3541851"/>
            <a:ext cx="5781" cy="173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B1CAE405-3F58-46FD-953C-47F0AC4D6EC9}"/>
              </a:ext>
            </a:extLst>
          </p:cNvPr>
          <p:cNvSpPr/>
          <p:nvPr/>
        </p:nvSpPr>
        <p:spPr>
          <a:xfrm>
            <a:off x="2272493" y="3715470"/>
            <a:ext cx="2091159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模板</a:t>
            </a:r>
            <a:r>
              <a:rPr lang="en-US" altLang="zh-CN" sz="1600" dirty="0"/>
              <a:t>id</a:t>
            </a:r>
            <a:r>
              <a:rPr lang="zh-CN" altLang="en-US" sz="1600" dirty="0"/>
              <a:t>去</a:t>
            </a:r>
            <a:r>
              <a:rPr lang="en-US" altLang="zh-CN" sz="1600" dirty="0" err="1"/>
              <a:t>redis</a:t>
            </a:r>
            <a:r>
              <a:rPr lang="zh-CN" altLang="en-US" sz="1600" dirty="0"/>
              <a:t>获取优惠券码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880774-C4C2-4741-9AE9-34C5D71E3DFF}"/>
              </a:ext>
            </a:extLst>
          </p:cNvPr>
          <p:cNvSpPr txBox="1"/>
          <p:nvPr/>
        </p:nvSpPr>
        <p:spPr>
          <a:xfrm>
            <a:off x="1414042" y="1480380"/>
            <a:ext cx="968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userId</a:t>
            </a:r>
            <a:r>
              <a:rPr lang="zh-CN" altLang="en-US" sz="1400" dirty="0"/>
              <a:t>，模板</a:t>
            </a:r>
            <a:r>
              <a:rPr lang="en-US" altLang="zh-CN" sz="1400" dirty="0"/>
              <a:t>Id</a:t>
            </a:r>
            <a:endParaRPr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FC135D-D75E-4237-8CBF-0637FC78BA2C}"/>
              </a:ext>
            </a:extLst>
          </p:cNvPr>
          <p:cNvSpPr/>
          <p:nvPr/>
        </p:nvSpPr>
        <p:spPr>
          <a:xfrm>
            <a:off x="2222337" y="4496764"/>
            <a:ext cx="2191469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模板</a:t>
            </a:r>
            <a:r>
              <a:rPr lang="en-US" altLang="zh-CN" sz="1600" dirty="0"/>
              <a:t>id</a:t>
            </a:r>
            <a:r>
              <a:rPr lang="zh-CN" altLang="en-US" sz="1600" dirty="0"/>
              <a:t>、用户</a:t>
            </a:r>
            <a:r>
              <a:rPr lang="en-US" altLang="zh-CN" sz="1600" dirty="0"/>
              <a:t>id</a:t>
            </a:r>
            <a:r>
              <a:rPr lang="zh-CN" altLang="en-US" sz="1600" dirty="0"/>
              <a:t>、优惠券码、状态存</a:t>
            </a:r>
            <a:r>
              <a:rPr lang="en-US" altLang="zh-CN" sz="1600" dirty="0" err="1"/>
              <a:t>mysql</a:t>
            </a:r>
            <a:endParaRPr lang="zh-CN" altLang="en-US" sz="16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B31FFB6-79CE-4AF4-88EA-D3372C9184C6}"/>
              </a:ext>
            </a:extLst>
          </p:cNvPr>
          <p:cNvCxnSpPr>
            <a:stCxn id="46" idx="2"/>
            <a:endCxn id="21" idx="0"/>
          </p:cNvCxnSpPr>
          <p:nvPr/>
        </p:nvCxnSpPr>
        <p:spPr>
          <a:xfrm flipH="1">
            <a:off x="3318072" y="4201607"/>
            <a:ext cx="1" cy="295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64D3ED5-C1C6-4F68-8853-389CF3E278B1}"/>
              </a:ext>
            </a:extLst>
          </p:cNvPr>
          <p:cNvSpPr/>
          <p:nvPr/>
        </p:nvSpPr>
        <p:spPr>
          <a:xfrm>
            <a:off x="2272497" y="5162306"/>
            <a:ext cx="2091159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优惠券信息拼接模板信息存</a:t>
            </a:r>
            <a:r>
              <a:rPr lang="en-US" altLang="zh-CN" sz="1600" dirty="0" err="1"/>
              <a:t>redis</a:t>
            </a:r>
            <a:endParaRPr lang="zh-CN" altLang="en-US" sz="16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E4E4C54-173D-43E4-8DE0-7F58F2E4A618}"/>
              </a:ext>
            </a:extLst>
          </p:cNvPr>
          <p:cNvSpPr/>
          <p:nvPr/>
        </p:nvSpPr>
        <p:spPr>
          <a:xfrm>
            <a:off x="2278280" y="5827848"/>
            <a:ext cx="2091159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完整优惠券信息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A0F137A-C90C-4919-871C-78DAB5522433}"/>
              </a:ext>
            </a:extLst>
          </p:cNvPr>
          <p:cNvCxnSpPr>
            <a:stCxn id="21" idx="2"/>
            <a:endCxn id="35" idx="0"/>
          </p:cNvCxnSpPr>
          <p:nvPr/>
        </p:nvCxnSpPr>
        <p:spPr>
          <a:xfrm>
            <a:off x="3318072" y="4982901"/>
            <a:ext cx="5" cy="179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C804A42-D7D4-4B27-93D3-093488ECA1A7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3318077" y="5648443"/>
            <a:ext cx="5783" cy="179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07B4582-AB5E-492F-A909-C2F38D94F9FB}"/>
              </a:ext>
            </a:extLst>
          </p:cNvPr>
          <p:cNvCxnSpPr/>
          <p:nvPr/>
        </p:nvCxnSpPr>
        <p:spPr>
          <a:xfrm flipH="1">
            <a:off x="1296362" y="5949387"/>
            <a:ext cx="976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66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用户结算</a:t>
            </a:r>
            <a:r>
              <a:rPr lang="en-US" altLang="zh-CN" dirty="0"/>
              <a:t>(</a:t>
            </a:r>
            <a:r>
              <a:rPr lang="zh-CN" altLang="en-US" dirty="0"/>
              <a:t>核销</a:t>
            </a:r>
            <a:r>
              <a:rPr lang="en-US" altLang="zh-CN" dirty="0"/>
              <a:t>)</a:t>
            </a:r>
            <a:r>
              <a:rPr lang="zh-CN" altLang="en-US" dirty="0"/>
              <a:t>优惠券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202556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459514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4A1F26-0E7F-4B5B-9704-2A75A1520DF5}"/>
              </a:ext>
            </a:extLst>
          </p:cNvPr>
          <p:cNvCxnSpPr>
            <a:cxnSpLocks/>
          </p:cNvCxnSpPr>
          <p:nvPr/>
        </p:nvCxnSpPr>
        <p:spPr>
          <a:xfrm>
            <a:off x="725346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42C2D7-646D-4B9F-9729-020598B960D0}"/>
              </a:ext>
            </a:extLst>
          </p:cNvPr>
          <p:cNvCxnSpPr>
            <a:cxnSpLocks/>
          </p:cNvCxnSpPr>
          <p:nvPr/>
        </p:nvCxnSpPr>
        <p:spPr>
          <a:xfrm>
            <a:off x="9583838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40" y="1354238"/>
            <a:ext cx="1066798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0B27897-C7D0-4AEA-9AD3-958B9583330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109238" y="1956122"/>
            <a:ext cx="1282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AF986F6-BF7A-41CD-A5FA-6B2604FF4AC9}"/>
              </a:ext>
            </a:extLst>
          </p:cNvPr>
          <p:cNvSpPr txBox="1"/>
          <p:nvPr/>
        </p:nvSpPr>
        <p:spPr>
          <a:xfrm>
            <a:off x="2899462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分发模块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0B464A-EB55-43A4-B883-3170895FC996}"/>
              </a:ext>
            </a:extLst>
          </p:cNvPr>
          <p:cNvSpPr/>
          <p:nvPr/>
        </p:nvSpPr>
        <p:spPr>
          <a:xfrm>
            <a:off x="2392095" y="1713053"/>
            <a:ext cx="1790215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500" dirty="0"/>
              <a:t>读</a:t>
            </a:r>
            <a:r>
              <a:rPr lang="en-US" altLang="zh-CN" sz="1500" dirty="0" err="1"/>
              <a:t>vo</a:t>
            </a:r>
            <a:r>
              <a:rPr lang="zh-CN" altLang="en-US" sz="1500" dirty="0"/>
              <a:t>取优惠券信息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CC299AC-BC6B-462D-BB7A-4AB5EBF56698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093568" y="3672069"/>
            <a:ext cx="898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B022828-2A45-44DB-989B-D9CD67F4FD5B}"/>
              </a:ext>
            </a:extLst>
          </p:cNvPr>
          <p:cNvSpPr/>
          <p:nvPr/>
        </p:nvSpPr>
        <p:spPr>
          <a:xfrm>
            <a:off x="4992547" y="3429000"/>
            <a:ext cx="1686037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核销优惠券，计算金额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5D0B80-1CC3-4728-9AE3-1FF36958ACF0}"/>
              </a:ext>
            </a:extLst>
          </p:cNvPr>
          <p:cNvSpPr txBox="1"/>
          <p:nvPr/>
        </p:nvSpPr>
        <p:spPr>
          <a:xfrm>
            <a:off x="5287706" y="1055670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核销模块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4534E14-35A0-4B1C-B677-36C4D1B2B060}"/>
              </a:ext>
            </a:extLst>
          </p:cNvPr>
          <p:cNvCxnSpPr>
            <a:cxnSpLocks/>
          </p:cNvCxnSpPr>
          <p:nvPr/>
        </p:nvCxnSpPr>
        <p:spPr>
          <a:xfrm flipH="1">
            <a:off x="4093568" y="3834114"/>
            <a:ext cx="898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315EC39-556D-4B44-8A9A-D7AEC6F456FA}"/>
              </a:ext>
            </a:extLst>
          </p:cNvPr>
          <p:cNvCxnSpPr>
            <a:cxnSpLocks/>
            <a:stCxn id="9" idx="2"/>
            <a:endCxn id="31" idx="0"/>
          </p:cNvCxnSpPr>
          <p:nvPr/>
        </p:nvCxnSpPr>
        <p:spPr>
          <a:xfrm>
            <a:off x="3287203" y="2199190"/>
            <a:ext cx="8007" cy="34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855F482C-2EF1-4FDA-BF26-F90695C4FA19}"/>
              </a:ext>
            </a:extLst>
          </p:cNvPr>
          <p:cNvSpPr/>
          <p:nvPr/>
        </p:nvSpPr>
        <p:spPr>
          <a:xfrm>
            <a:off x="2079953" y="2546430"/>
            <a:ext cx="243051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userId</a:t>
            </a:r>
            <a:r>
              <a:rPr lang="zh-CN" altLang="en-US" sz="1600" dirty="0"/>
              <a:t>状态获取可用，判断待消费是否全是自己的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F9DB5FF-223C-4AF5-8AA6-56F9E7D3C24D}"/>
              </a:ext>
            </a:extLst>
          </p:cNvPr>
          <p:cNvCxnSpPr>
            <a:cxnSpLocks/>
            <a:stCxn id="31" idx="2"/>
            <a:endCxn id="41" idx="0"/>
          </p:cNvCxnSpPr>
          <p:nvPr/>
        </p:nvCxnSpPr>
        <p:spPr>
          <a:xfrm>
            <a:off x="3295210" y="3032567"/>
            <a:ext cx="15149" cy="428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BCB657E5-9A1C-4D21-BDFD-1D074491D785}"/>
              </a:ext>
            </a:extLst>
          </p:cNvPr>
          <p:cNvSpPr/>
          <p:nvPr/>
        </p:nvSpPr>
        <p:spPr>
          <a:xfrm>
            <a:off x="2511712" y="3460829"/>
            <a:ext cx="159729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调用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34F6689-6DB7-4B2C-9224-0A9EDD4F8C69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>
            <a:off x="3310359" y="3946966"/>
            <a:ext cx="0" cy="428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B1CAE405-3F58-46FD-953C-47F0AC4D6EC9}"/>
              </a:ext>
            </a:extLst>
          </p:cNvPr>
          <p:cNvSpPr/>
          <p:nvPr/>
        </p:nvSpPr>
        <p:spPr>
          <a:xfrm>
            <a:off x="2110253" y="4375228"/>
            <a:ext cx="2400211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提取待消费优惠券，</a:t>
            </a:r>
            <a:r>
              <a:rPr lang="en-US" altLang="zh-CN" sz="1600" dirty="0" err="1"/>
              <a:t>redis</a:t>
            </a:r>
            <a:r>
              <a:rPr lang="zh-CN" altLang="en-US" sz="1600" dirty="0"/>
              <a:t>更新、</a:t>
            </a:r>
            <a:r>
              <a:rPr lang="en-US" altLang="zh-CN" sz="1600" dirty="0" err="1"/>
              <a:t>kafka</a:t>
            </a:r>
            <a:r>
              <a:rPr lang="zh-CN" altLang="en-US" sz="1600" dirty="0"/>
              <a:t>更新</a:t>
            </a:r>
            <a:r>
              <a:rPr lang="en-US" altLang="zh-CN" sz="1600" dirty="0" err="1"/>
              <a:t>db</a:t>
            </a:r>
            <a:endParaRPr lang="zh-CN" altLang="en-US" sz="1600" dirty="0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4A69D0A-84C9-4BB6-A62A-381A2C247D8B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1109239" y="4618297"/>
            <a:ext cx="1001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2880774-C4C2-4741-9AE9-34C5D71E3DFF}"/>
              </a:ext>
            </a:extLst>
          </p:cNvPr>
          <p:cNvSpPr txBox="1"/>
          <p:nvPr/>
        </p:nvSpPr>
        <p:spPr>
          <a:xfrm>
            <a:off x="1109238" y="1167727"/>
            <a:ext cx="1743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userId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goodsInfo</a:t>
            </a:r>
            <a:r>
              <a:rPr lang="zh-CN" altLang="en-US" sz="1400" dirty="0"/>
              <a:t>、待消费的完整优惠券信息</a:t>
            </a:r>
            <a:r>
              <a:rPr lang="en-US" altLang="zh-CN" sz="1400" dirty="0"/>
              <a:t>s</a:t>
            </a:r>
            <a:r>
              <a:rPr lang="zh-CN" altLang="en-US" sz="1400" dirty="0"/>
              <a:t>、是否结算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2BB9DF3-CCAB-421E-B165-5B5F5C6C982A}"/>
              </a:ext>
            </a:extLst>
          </p:cNvPr>
          <p:cNvCxnSpPr/>
          <p:nvPr/>
        </p:nvCxnSpPr>
        <p:spPr>
          <a:xfrm flipH="1">
            <a:off x="1109238" y="2118167"/>
            <a:ext cx="1282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87FB77E-1D5C-4ED6-A150-DD58221C762C}"/>
              </a:ext>
            </a:extLst>
          </p:cNvPr>
          <p:cNvSpPr txBox="1"/>
          <p:nvPr/>
        </p:nvSpPr>
        <p:spPr>
          <a:xfrm>
            <a:off x="1200185" y="2199190"/>
            <a:ext cx="115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空</a:t>
            </a:r>
            <a:r>
              <a:rPr lang="en-US" altLang="zh-CN" sz="1400" dirty="0"/>
              <a:t>,</a:t>
            </a:r>
            <a:r>
              <a:rPr lang="zh-CN" altLang="en-US" sz="1400" dirty="0"/>
              <a:t>总价返回</a:t>
            </a:r>
          </a:p>
        </p:txBody>
      </p:sp>
    </p:spTree>
    <p:extLst>
      <p:ext uri="{BB962C8B-B14F-4D97-AF65-F5344CB8AC3E}">
        <p14:creationId xmlns:p14="http://schemas.microsoft.com/office/powerpoint/2010/main" val="2283539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结算模块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F2B8DF-2D46-49B6-BC32-9B0B3F88C1E6}"/>
              </a:ext>
            </a:extLst>
          </p:cNvPr>
          <p:cNvSpPr txBox="1"/>
          <p:nvPr/>
        </p:nvSpPr>
        <p:spPr>
          <a:xfrm>
            <a:off x="476518" y="1442434"/>
            <a:ext cx="114364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优惠券暂时分为立减、折扣、满减、满减</a:t>
            </a:r>
            <a:r>
              <a:rPr lang="en-US" altLang="zh-CN" dirty="0"/>
              <a:t>+</a:t>
            </a:r>
            <a:r>
              <a:rPr lang="zh-CN" altLang="en-US" dirty="0"/>
              <a:t>折扣，每种优惠券每次消费一张</a:t>
            </a:r>
            <a:endParaRPr lang="en-US" altLang="zh-CN" dirty="0"/>
          </a:p>
          <a:p>
            <a:r>
              <a:rPr lang="zh-CN" altLang="en-US" dirty="0"/>
              <a:t>结算模块采用策略模式，对不同的优惠券结算有不同的结算执行器，所有执行器实现</a:t>
            </a:r>
            <a:r>
              <a:rPr lang="en-US" altLang="zh-CN" dirty="0" err="1"/>
              <a:t>RuleExecutor</a:t>
            </a:r>
            <a:r>
              <a:rPr lang="zh-CN" altLang="en-US" dirty="0"/>
              <a:t>接口，完成类型返回和计算的方法，</a:t>
            </a:r>
            <a:r>
              <a:rPr lang="en-US" altLang="zh-CN" dirty="0" err="1"/>
              <a:t>ExecuteManager</a:t>
            </a:r>
            <a:r>
              <a:rPr lang="zh-CN" altLang="en-US" dirty="0"/>
              <a:t>类负责选择执行器实现</a:t>
            </a:r>
            <a:r>
              <a:rPr lang="en-US" altLang="zh-CN" dirty="0" err="1"/>
              <a:t>BeanPostProcessor</a:t>
            </a:r>
            <a:r>
              <a:rPr lang="en-US" altLang="zh-CN" dirty="0"/>
              <a:t> before</a:t>
            </a:r>
            <a:r>
              <a:rPr lang="zh-CN" altLang="en-US" dirty="0"/>
              <a:t>将</a:t>
            </a:r>
            <a:r>
              <a:rPr lang="en-US" altLang="zh-CN" dirty="0" err="1"/>
              <a:t>RuleExecutor</a:t>
            </a:r>
            <a:r>
              <a:rPr lang="zh-CN" altLang="en-US" dirty="0"/>
              <a:t>实现类保存在自己的</a:t>
            </a:r>
            <a:r>
              <a:rPr lang="en-US" altLang="zh-CN" dirty="0"/>
              <a:t>Map&lt;</a:t>
            </a:r>
            <a:r>
              <a:rPr lang="en-US" altLang="zh-CN" dirty="0" err="1"/>
              <a:t>RuleFlag,RuleExecutor</a:t>
            </a:r>
            <a:r>
              <a:rPr lang="en-US" altLang="zh-CN" dirty="0"/>
              <a:t>&gt;</a:t>
            </a:r>
            <a:r>
              <a:rPr lang="zh-CN" altLang="en-US" dirty="0"/>
              <a:t>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执行器抽象类：</a:t>
            </a:r>
            <a:endParaRPr lang="en-US" altLang="zh-CN" dirty="0"/>
          </a:p>
          <a:p>
            <a:r>
              <a:rPr lang="en-US" altLang="zh-CN" dirty="0" err="1"/>
              <a:t>isGoodsTypeSatisfy</a:t>
            </a:r>
            <a:r>
              <a:rPr lang="en-US" altLang="zh-CN" dirty="0"/>
              <a:t>:</a:t>
            </a:r>
            <a:r>
              <a:rPr lang="zh-CN" altLang="en-US" dirty="0"/>
              <a:t>判断商品类型和优惠券</a:t>
            </a:r>
            <a:r>
              <a:rPr lang="en-US" altLang="zh-CN" dirty="0"/>
              <a:t>(</a:t>
            </a:r>
            <a:r>
              <a:rPr lang="zh-CN" altLang="en-US" dirty="0"/>
              <a:t>单</a:t>
            </a:r>
            <a:r>
              <a:rPr lang="en-US" altLang="zh-CN" dirty="0"/>
              <a:t>)</a:t>
            </a:r>
            <a:r>
              <a:rPr lang="zh-CN" altLang="en-US" dirty="0"/>
              <a:t>适用类型是否匹配，存在交集即可</a:t>
            </a:r>
            <a:r>
              <a:rPr lang="en-US" altLang="zh-CN" dirty="0"/>
              <a:t>.</a:t>
            </a:r>
            <a:r>
              <a:rPr lang="zh-CN" altLang="en-US" dirty="0"/>
              <a:t>（多类型优惠券需重写）</a:t>
            </a:r>
            <a:endParaRPr lang="en-US" altLang="zh-CN" dirty="0"/>
          </a:p>
          <a:p>
            <a:r>
              <a:rPr lang="en-US" altLang="zh-CN" dirty="0" err="1"/>
              <a:t>processGoodsTypeNotSatisfy</a:t>
            </a:r>
            <a:r>
              <a:rPr lang="en-US" altLang="zh-CN" dirty="0"/>
              <a:t>:</a:t>
            </a:r>
            <a:r>
              <a:rPr lang="zh-CN" altLang="en-US" dirty="0"/>
              <a:t>调用</a:t>
            </a:r>
            <a:r>
              <a:rPr lang="en-US" altLang="zh-CN" dirty="0" err="1"/>
              <a:t>isGoodsTypeSatisfy</a:t>
            </a:r>
            <a:r>
              <a:rPr lang="zh-CN" altLang="en-US" dirty="0"/>
              <a:t>并处理不匹配情况，返回总价清空优惠券，匹配返回</a:t>
            </a:r>
            <a:r>
              <a:rPr lang="en-US" altLang="zh-CN" dirty="0"/>
              <a:t>null</a:t>
            </a:r>
          </a:p>
          <a:p>
            <a:r>
              <a:rPr lang="en-US" altLang="zh-CN" dirty="0" err="1"/>
              <a:t>goodsCostSum</a:t>
            </a:r>
            <a:r>
              <a:rPr lang="en-US" altLang="zh-CN" dirty="0"/>
              <a:t>:</a:t>
            </a:r>
            <a:r>
              <a:rPr lang="zh-CN" altLang="en-US" dirty="0"/>
              <a:t>计算总价</a:t>
            </a:r>
            <a:endParaRPr lang="en-US" altLang="zh-CN" dirty="0"/>
          </a:p>
          <a:p>
            <a:r>
              <a:rPr lang="en-US" altLang="zh-CN" dirty="0"/>
              <a:t>retain2Decimals:</a:t>
            </a:r>
            <a:r>
              <a:rPr lang="zh-CN" altLang="en-US" dirty="0"/>
              <a:t>保留两位小数。</a:t>
            </a:r>
            <a:r>
              <a:rPr lang="en-US" altLang="zh-CN" sz="1600" dirty="0"/>
              <a:t>return new </a:t>
            </a:r>
            <a:r>
              <a:rPr lang="en-US" altLang="zh-CN" sz="1600" dirty="0" err="1"/>
              <a:t>BigDecimal</a:t>
            </a:r>
            <a:r>
              <a:rPr lang="en-US" altLang="zh-CN" sz="1600" dirty="0"/>
              <a:t>(value).</a:t>
            </a:r>
            <a:r>
              <a:rPr lang="en-US" altLang="zh-CN" sz="1600" dirty="0" err="1"/>
              <a:t>setScale</a:t>
            </a:r>
            <a:r>
              <a:rPr lang="en-US" altLang="zh-CN" sz="1600" dirty="0"/>
              <a:t>(2, </a:t>
            </a:r>
            <a:r>
              <a:rPr lang="en-US" altLang="zh-CN" sz="1600" dirty="0" err="1"/>
              <a:t>BigDecimal.ROUND_HALF_UP</a:t>
            </a:r>
            <a:r>
              <a:rPr lang="en-US" altLang="zh-CN" sz="1600" dirty="0"/>
              <a:t>).</a:t>
            </a:r>
            <a:r>
              <a:rPr lang="en-US" altLang="zh-CN" sz="1600" dirty="0" err="1"/>
              <a:t>doubleValue</a:t>
            </a:r>
            <a:r>
              <a:rPr lang="en-US" altLang="zh-CN" sz="1600" dirty="0"/>
              <a:t>();</a:t>
            </a:r>
          </a:p>
          <a:p>
            <a:r>
              <a:rPr lang="en-US" altLang="zh-CN" dirty="0" err="1"/>
              <a:t>minCost</a:t>
            </a:r>
            <a:r>
              <a:rPr lang="en-US" altLang="zh-CN" dirty="0"/>
              <a:t>:</a:t>
            </a:r>
            <a:r>
              <a:rPr lang="zh-CN" altLang="en-US" dirty="0"/>
              <a:t>最小支付费用 </a:t>
            </a:r>
            <a:r>
              <a:rPr lang="en-US" altLang="zh-CN" dirty="0"/>
              <a:t>return 0.1;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094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优惠券结算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1896780" y="1179798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459514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分发模块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0B27897-C7D0-4AEA-9AD3-958B9583330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296362" y="1956122"/>
            <a:ext cx="13368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AF986F6-BF7A-41CD-A5FA-6B2604FF4AC9}"/>
              </a:ext>
            </a:extLst>
          </p:cNvPr>
          <p:cNvSpPr txBox="1"/>
          <p:nvPr/>
        </p:nvSpPr>
        <p:spPr>
          <a:xfrm>
            <a:off x="2671824" y="1072306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结算模块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0B464A-EB55-43A4-B883-3170895FC996}"/>
              </a:ext>
            </a:extLst>
          </p:cNvPr>
          <p:cNvSpPr/>
          <p:nvPr/>
        </p:nvSpPr>
        <p:spPr>
          <a:xfrm>
            <a:off x="2633243" y="1713053"/>
            <a:ext cx="135423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判断优惠券数量</a:t>
            </a:r>
            <a:r>
              <a:rPr lang="en-US" altLang="zh-CN" sz="1600" dirty="0"/>
              <a:t>==1</a:t>
            </a:r>
            <a:endParaRPr lang="zh-CN" altLang="en-US" sz="1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5D0B80-1CC3-4728-9AE3-1FF36958ACF0}"/>
              </a:ext>
            </a:extLst>
          </p:cNvPr>
          <p:cNvSpPr txBox="1"/>
          <p:nvPr/>
        </p:nvSpPr>
        <p:spPr>
          <a:xfrm>
            <a:off x="7399841" y="1052396"/>
            <a:ext cx="146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执行器功能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4A69D0A-84C9-4BB6-A62A-381A2C247D8B}"/>
              </a:ext>
            </a:extLst>
          </p:cNvPr>
          <p:cNvCxnSpPr>
            <a:cxnSpLocks/>
          </p:cNvCxnSpPr>
          <p:nvPr/>
        </p:nvCxnSpPr>
        <p:spPr>
          <a:xfrm flipH="1">
            <a:off x="1296363" y="5081938"/>
            <a:ext cx="2161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BCC7CAA-D470-407A-9217-2AE971D1A096}"/>
              </a:ext>
            </a:extLst>
          </p:cNvPr>
          <p:cNvSpPr txBox="1"/>
          <p:nvPr/>
        </p:nvSpPr>
        <p:spPr>
          <a:xfrm>
            <a:off x="1136279" y="1179798"/>
            <a:ext cx="1743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userId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goodsInfo</a:t>
            </a:r>
            <a:r>
              <a:rPr lang="zh-CN" altLang="en-US" sz="1400" dirty="0"/>
              <a:t>、待消费的完整优惠券信息</a:t>
            </a:r>
            <a:r>
              <a:rPr lang="en-US" altLang="zh-CN" sz="1400" dirty="0"/>
              <a:t>s</a:t>
            </a:r>
            <a:r>
              <a:rPr lang="zh-CN" altLang="en-US" sz="1400" dirty="0"/>
              <a:t>、是否结算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BEC125-030D-4D37-9FD8-B043E9E9512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694010" y="2218584"/>
            <a:ext cx="0" cy="399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1B47EFF-FCF2-44AC-8B4E-479F2BB67E5A}"/>
              </a:ext>
            </a:extLst>
          </p:cNvPr>
          <p:cNvCxnSpPr>
            <a:cxnSpLocks/>
          </p:cNvCxnSpPr>
          <p:nvPr/>
        </p:nvCxnSpPr>
        <p:spPr>
          <a:xfrm>
            <a:off x="3945030" y="2199190"/>
            <a:ext cx="0" cy="1690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41293478-BC33-4512-B287-8DD8C20AEDBE}"/>
              </a:ext>
            </a:extLst>
          </p:cNvPr>
          <p:cNvSpPr/>
          <p:nvPr/>
        </p:nvSpPr>
        <p:spPr>
          <a:xfrm>
            <a:off x="2025569" y="2618499"/>
            <a:ext cx="1336881" cy="631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选择立减</a:t>
            </a:r>
            <a:r>
              <a:rPr lang="en-US" altLang="zh-CN" sz="1400" dirty="0"/>
              <a:t>/</a:t>
            </a:r>
            <a:r>
              <a:rPr lang="zh-CN" altLang="en-US" sz="1400" dirty="0"/>
              <a:t>满减</a:t>
            </a:r>
            <a:r>
              <a:rPr lang="en-US" altLang="zh-CN" sz="1400" dirty="0"/>
              <a:t>/</a:t>
            </a:r>
            <a:r>
              <a:rPr lang="zh-CN" altLang="en-US" sz="1400" dirty="0"/>
              <a:t>折扣执行器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77722D-909A-4ED3-A1C5-7C3120555504}"/>
              </a:ext>
            </a:extLst>
          </p:cNvPr>
          <p:cNvSpPr/>
          <p:nvPr/>
        </p:nvSpPr>
        <p:spPr>
          <a:xfrm>
            <a:off x="2459867" y="3889420"/>
            <a:ext cx="1996218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判断数量</a:t>
            </a:r>
            <a:r>
              <a:rPr lang="en-US" altLang="zh-CN" sz="1400" dirty="0"/>
              <a:t>==2</a:t>
            </a:r>
            <a:r>
              <a:rPr lang="zh-CN" altLang="en-US" sz="1400" dirty="0"/>
              <a:t>，是满减</a:t>
            </a:r>
            <a:r>
              <a:rPr lang="en-US" altLang="zh-CN" sz="1400" dirty="0"/>
              <a:t>+</a:t>
            </a:r>
            <a:r>
              <a:rPr lang="zh-CN" altLang="en-US" sz="1400" dirty="0"/>
              <a:t>折扣执行器，否报错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93B3105-29DD-4EA4-9766-EF6FBD9236EF}"/>
              </a:ext>
            </a:extLst>
          </p:cNvPr>
          <p:cNvCxnSpPr>
            <a:cxnSpLocks/>
          </p:cNvCxnSpPr>
          <p:nvPr/>
        </p:nvCxnSpPr>
        <p:spPr>
          <a:xfrm>
            <a:off x="2228045" y="3249549"/>
            <a:ext cx="0" cy="1832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AD6F817-4C03-4B0E-B28B-31F9BADE9BC6}"/>
              </a:ext>
            </a:extLst>
          </p:cNvPr>
          <p:cNvCxnSpPr>
            <a:stCxn id="28" idx="2"/>
          </p:cNvCxnSpPr>
          <p:nvPr/>
        </p:nvCxnSpPr>
        <p:spPr>
          <a:xfrm>
            <a:off x="3457976" y="4375557"/>
            <a:ext cx="0" cy="706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E8860D95-938E-4986-BB3C-B4340E6A29C6}"/>
              </a:ext>
            </a:extLst>
          </p:cNvPr>
          <p:cNvSpPr/>
          <p:nvPr/>
        </p:nvSpPr>
        <p:spPr>
          <a:xfrm>
            <a:off x="4979947" y="3156337"/>
            <a:ext cx="6408756" cy="545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统计总价，取两位小数，判断是否满足适用范围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F544586-B461-4CF1-8443-BE0A0DEEE5D9}"/>
              </a:ext>
            </a:extLst>
          </p:cNvPr>
          <p:cNvSpPr/>
          <p:nvPr/>
        </p:nvSpPr>
        <p:spPr>
          <a:xfrm>
            <a:off x="4979946" y="1587729"/>
            <a:ext cx="119720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立减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87B304B-3317-4D9D-941D-2D45453E01C8}"/>
              </a:ext>
            </a:extLst>
          </p:cNvPr>
          <p:cNvSpPr/>
          <p:nvPr/>
        </p:nvSpPr>
        <p:spPr>
          <a:xfrm>
            <a:off x="6671282" y="1587729"/>
            <a:ext cx="119720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满减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B60246C-0370-4F06-A6A9-8F30845085DF}"/>
              </a:ext>
            </a:extLst>
          </p:cNvPr>
          <p:cNvSpPr/>
          <p:nvPr/>
        </p:nvSpPr>
        <p:spPr>
          <a:xfrm>
            <a:off x="8361554" y="1587729"/>
            <a:ext cx="119720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折扣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75E0923-9D0B-4629-BED9-E12FCCBA3FD0}"/>
              </a:ext>
            </a:extLst>
          </p:cNvPr>
          <p:cNvSpPr/>
          <p:nvPr/>
        </p:nvSpPr>
        <p:spPr>
          <a:xfrm>
            <a:off x="10051826" y="1587729"/>
            <a:ext cx="1336881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满减</a:t>
            </a:r>
            <a:r>
              <a:rPr lang="en-US" altLang="zh-CN" dirty="0"/>
              <a:t>+</a:t>
            </a:r>
            <a:r>
              <a:rPr lang="zh-CN" altLang="en-US" dirty="0"/>
              <a:t>折扣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AC9F2E9-FCF6-45F0-AA1D-B83FA07FE973}"/>
              </a:ext>
            </a:extLst>
          </p:cNvPr>
          <p:cNvCxnSpPr>
            <a:stCxn id="43" idx="2"/>
          </p:cNvCxnSpPr>
          <p:nvPr/>
        </p:nvCxnSpPr>
        <p:spPr>
          <a:xfrm flipH="1">
            <a:off x="5576552" y="2073866"/>
            <a:ext cx="1996" cy="10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9F770E8-EF5C-4BE6-B3A0-C45C545EE160}"/>
              </a:ext>
            </a:extLst>
          </p:cNvPr>
          <p:cNvCxnSpPr/>
          <p:nvPr/>
        </p:nvCxnSpPr>
        <p:spPr>
          <a:xfrm flipH="1">
            <a:off x="7267887" y="2073049"/>
            <a:ext cx="1996" cy="10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037C00E-4892-4498-AC78-DCFDD20B1FE3}"/>
              </a:ext>
            </a:extLst>
          </p:cNvPr>
          <p:cNvCxnSpPr/>
          <p:nvPr/>
        </p:nvCxnSpPr>
        <p:spPr>
          <a:xfrm flipH="1">
            <a:off x="8959222" y="2073048"/>
            <a:ext cx="1996" cy="10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9816624-3477-43F7-BAD1-10462A41FDD0}"/>
              </a:ext>
            </a:extLst>
          </p:cNvPr>
          <p:cNvCxnSpPr>
            <a:cxnSpLocks/>
          </p:cNvCxnSpPr>
          <p:nvPr/>
        </p:nvCxnSpPr>
        <p:spPr>
          <a:xfrm>
            <a:off x="5576552" y="3701663"/>
            <a:ext cx="0" cy="1568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5352D499-3CD5-4389-9BB3-1279DACCB488}"/>
              </a:ext>
            </a:extLst>
          </p:cNvPr>
          <p:cNvSpPr/>
          <p:nvPr/>
        </p:nvSpPr>
        <p:spPr>
          <a:xfrm>
            <a:off x="4977944" y="5270271"/>
            <a:ext cx="6408756" cy="6153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计算优惠，取两位小数，和最小付费取最大值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8880030-50D1-4FAB-8FCC-7284988AC94C}"/>
              </a:ext>
            </a:extLst>
          </p:cNvPr>
          <p:cNvCxnSpPr/>
          <p:nvPr/>
        </p:nvCxnSpPr>
        <p:spPr>
          <a:xfrm>
            <a:off x="7267887" y="3701663"/>
            <a:ext cx="0" cy="67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9C923E43-BAB6-4F12-A14E-BBA96B6B25F5}"/>
              </a:ext>
            </a:extLst>
          </p:cNvPr>
          <p:cNvSpPr/>
          <p:nvPr/>
        </p:nvSpPr>
        <p:spPr>
          <a:xfrm>
            <a:off x="6522217" y="4375557"/>
            <a:ext cx="1491339" cy="4085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判断满减门槛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4438EC7-629E-4E9C-B3DE-A2D0290433DA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7267887" y="4784134"/>
            <a:ext cx="0" cy="486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8113BA5F-3D57-4688-9ABB-7097711B4098}"/>
              </a:ext>
            </a:extLst>
          </p:cNvPr>
          <p:cNvCxnSpPr/>
          <p:nvPr/>
        </p:nvCxnSpPr>
        <p:spPr>
          <a:xfrm>
            <a:off x="8959222" y="3749378"/>
            <a:ext cx="0" cy="1520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40151A15-0EE7-42ED-81F4-D625819BCA57}"/>
              </a:ext>
            </a:extLst>
          </p:cNvPr>
          <p:cNvSpPr/>
          <p:nvPr/>
        </p:nvSpPr>
        <p:spPr>
          <a:xfrm>
            <a:off x="9413553" y="2316934"/>
            <a:ext cx="2637287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重写类型判断，商品类型与优惠券类型差集需为空</a:t>
            </a: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9F97B07B-DA86-4CFE-98E0-CF741D91657B}"/>
              </a:ext>
            </a:extLst>
          </p:cNvPr>
          <p:cNvCxnSpPr>
            <a:cxnSpLocks/>
            <a:stCxn id="50" idx="2"/>
            <a:endCxn id="78" idx="0"/>
          </p:cNvCxnSpPr>
          <p:nvPr/>
        </p:nvCxnSpPr>
        <p:spPr>
          <a:xfrm>
            <a:off x="10720267" y="2073866"/>
            <a:ext cx="11930" cy="243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1C3EE0BA-A26A-4E12-AB1A-47DF4B82FF92}"/>
              </a:ext>
            </a:extLst>
          </p:cNvPr>
          <p:cNvCxnSpPr>
            <a:stCxn id="78" idx="2"/>
          </p:cNvCxnSpPr>
          <p:nvPr/>
        </p:nvCxnSpPr>
        <p:spPr>
          <a:xfrm>
            <a:off x="10732197" y="2803071"/>
            <a:ext cx="0" cy="352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277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优惠券结算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1896780" y="1179798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459514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分发模块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0B27897-C7D0-4AEA-9AD3-958B9583330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296362" y="1956122"/>
            <a:ext cx="13368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AF986F6-BF7A-41CD-A5FA-6B2604FF4AC9}"/>
              </a:ext>
            </a:extLst>
          </p:cNvPr>
          <p:cNvSpPr txBox="1"/>
          <p:nvPr/>
        </p:nvSpPr>
        <p:spPr>
          <a:xfrm>
            <a:off x="2671824" y="1072306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结算模块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0B464A-EB55-43A4-B883-3170895FC996}"/>
              </a:ext>
            </a:extLst>
          </p:cNvPr>
          <p:cNvSpPr/>
          <p:nvPr/>
        </p:nvSpPr>
        <p:spPr>
          <a:xfrm>
            <a:off x="2633243" y="1713053"/>
            <a:ext cx="135423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判断优惠券数量</a:t>
            </a:r>
            <a:r>
              <a:rPr lang="en-US" altLang="zh-CN" sz="1600" dirty="0"/>
              <a:t>==1</a:t>
            </a:r>
            <a:endParaRPr lang="zh-CN" altLang="en-US" sz="16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5D0B80-1CC3-4728-9AE3-1FF36958ACF0}"/>
              </a:ext>
            </a:extLst>
          </p:cNvPr>
          <p:cNvSpPr txBox="1"/>
          <p:nvPr/>
        </p:nvSpPr>
        <p:spPr>
          <a:xfrm>
            <a:off x="7399841" y="1052396"/>
            <a:ext cx="146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执行器功能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4A69D0A-84C9-4BB6-A62A-381A2C247D8B}"/>
              </a:ext>
            </a:extLst>
          </p:cNvPr>
          <p:cNvCxnSpPr>
            <a:cxnSpLocks/>
          </p:cNvCxnSpPr>
          <p:nvPr/>
        </p:nvCxnSpPr>
        <p:spPr>
          <a:xfrm flipH="1">
            <a:off x="1296363" y="5081938"/>
            <a:ext cx="2161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BCC7CAA-D470-407A-9217-2AE971D1A096}"/>
              </a:ext>
            </a:extLst>
          </p:cNvPr>
          <p:cNvSpPr txBox="1"/>
          <p:nvPr/>
        </p:nvSpPr>
        <p:spPr>
          <a:xfrm>
            <a:off x="1136279" y="1179798"/>
            <a:ext cx="1743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userId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goodsInfo</a:t>
            </a:r>
            <a:r>
              <a:rPr lang="zh-CN" altLang="en-US" sz="1400" dirty="0"/>
              <a:t>、待消费的完整优惠券信息</a:t>
            </a:r>
            <a:r>
              <a:rPr lang="en-US" altLang="zh-CN" sz="1400" dirty="0"/>
              <a:t>s</a:t>
            </a:r>
            <a:r>
              <a:rPr lang="zh-CN" altLang="en-US" sz="1400" dirty="0"/>
              <a:t>、是否结算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BEC125-030D-4D37-9FD8-B043E9E9512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694010" y="2218584"/>
            <a:ext cx="0" cy="399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1B47EFF-FCF2-44AC-8B4E-479F2BB67E5A}"/>
              </a:ext>
            </a:extLst>
          </p:cNvPr>
          <p:cNvCxnSpPr>
            <a:cxnSpLocks/>
          </p:cNvCxnSpPr>
          <p:nvPr/>
        </p:nvCxnSpPr>
        <p:spPr>
          <a:xfrm>
            <a:off x="3945030" y="2199190"/>
            <a:ext cx="0" cy="1690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41293478-BC33-4512-B287-8DD8C20AEDBE}"/>
              </a:ext>
            </a:extLst>
          </p:cNvPr>
          <p:cNvSpPr/>
          <p:nvPr/>
        </p:nvSpPr>
        <p:spPr>
          <a:xfrm>
            <a:off x="2025569" y="2618499"/>
            <a:ext cx="1336881" cy="631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选择立减</a:t>
            </a:r>
            <a:r>
              <a:rPr lang="en-US" altLang="zh-CN" sz="1400" dirty="0"/>
              <a:t>/</a:t>
            </a:r>
            <a:r>
              <a:rPr lang="zh-CN" altLang="en-US" sz="1400" dirty="0"/>
              <a:t>满减</a:t>
            </a:r>
            <a:r>
              <a:rPr lang="en-US" altLang="zh-CN" sz="1400" dirty="0"/>
              <a:t>/</a:t>
            </a:r>
            <a:r>
              <a:rPr lang="zh-CN" altLang="en-US" sz="1400" dirty="0"/>
              <a:t>折扣执行器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77722D-909A-4ED3-A1C5-7C3120555504}"/>
              </a:ext>
            </a:extLst>
          </p:cNvPr>
          <p:cNvSpPr/>
          <p:nvPr/>
        </p:nvSpPr>
        <p:spPr>
          <a:xfrm>
            <a:off x="2459867" y="3889420"/>
            <a:ext cx="1996218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判断数量</a:t>
            </a:r>
            <a:r>
              <a:rPr lang="en-US" altLang="zh-CN" sz="1400" dirty="0"/>
              <a:t>==2</a:t>
            </a:r>
            <a:r>
              <a:rPr lang="zh-CN" altLang="en-US" sz="1400" dirty="0"/>
              <a:t>，是满减</a:t>
            </a:r>
            <a:r>
              <a:rPr lang="en-US" altLang="zh-CN" sz="1400" dirty="0"/>
              <a:t>+</a:t>
            </a:r>
            <a:r>
              <a:rPr lang="zh-CN" altLang="en-US" sz="1400" dirty="0"/>
              <a:t>折扣执行器，否报错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93B3105-29DD-4EA4-9766-EF6FBD9236EF}"/>
              </a:ext>
            </a:extLst>
          </p:cNvPr>
          <p:cNvCxnSpPr>
            <a:cxnSpLocks/>
          </p:cNvCxnSpPr>
          <p:nvPr/>
        </p:nvCxnSpPr>
        <p:spPr>
          <a:xfrm>
            <a:off x="2228045" y="3249549"/>
            <a:ext cx="0" cy="1832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AD6F817-4C03-4B0E-B28B-31F9BADE9BC6}"/>
              </a:ext>
            </a:extLst>
          </p:cNvPr>
          <p:cNvCxnSpPr>
            <a:stCxn id="28" idx="2"/>
          </p:cNvCxnSpPr>
          <p:nvPr/>
        </p:nvCxnSpPr>
        <p:spPr>
          <a:xfrm>
            <a:off x="3457976" y="4375557"/>
            <a:ext cx="0" cy="706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E8860D95-938E-4986-BB3C-B4340E6A29C6}"/>
              </a:ext>
            </a:extLst>
          </p:cNvPr>
          <p:cNvSpPr/>
          <p:nvPr/>
        </p:nvSpPr>
        <p:spPr>
          <a:xfrm>
            <a:off x="4979947" y="3156337"/>
            <a:ext cx="6408756" cy="545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统计总价，取两位小数，判断是否满足适用范围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F544586-B461-4CF1-8443-BE0A0DEEE5D9}"/>
              </a:ext>
            </a:extLst>
          </p:cNvPr>
          <p:cNvSpPr/>
          <p:nvPr/>
        </p:nvSpPr>
        <p:spPr>
          <a:xfrm>
            <a:off x="4979946" y="1587729"/>
            <a:ext cx="119720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立减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87B304B-3317-4D9D-941D-2D45453E01C8}"/>
              </a:ext>
            </a:extLst>
          </p:cNvPr>
          <p:cNvSpPr/>
          <p:nvPr/>
        </p:nvSpPr>
        <p:spPr>
          <a:xfrm>
            <a:off x="6671282" y="1587729"/>
            <a:ext cx="119720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满减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B60246C-0370-4F06-A6A9-8F30845085DF}"/>
              </a:ext>
            </a:extLst>
          </p:cNvPr>
          <p:cNvSpPr/>
          <p:nvPr/>
        </p:nvSpPr>
        <p:spPr>
          <a:xfrm>
            <a:off x="8361554" y="1587729"/>
            <a:ext cx="119720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折扣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75E0923-9D0B-4629-BED9-E12FCCBA3FD0}"/>
              </a:ext>
            </a:extLst>
          </p:cNvPr>
          <p:cNvSpPr/>
          <p:nvPr/>
        </p:nvSpPr>
        <p:spPr>
          <a:xfrm>
            <a:off x="10051826" y="1587729"/>
            <a:ext cx="1336881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满减</a:t>
            </a:r>
            <a:r>
              <a:rPr lang="en-US" altLang="zh-CN" dirty="0"/>
              <a:t>+</a:t>
            </a:r>
            <a:r>
              <a:rPr lang="zh-CN" altLang="en-US" dirty="0"/>
              <a:t>折扣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AC9F2E9-FCF6-45F0-AA1D-B83FA07FE973}"/>
              </a:ext>
            </a:extLst>
          </p:cNvPr>
          <p:cNvCxnSpPr>
            <a:stCxn id="43" idx="2"/>
          </p:cNvCxnSpPr>
          <p:nvPr/>
        </p:nvCxnSpPr>
        <p:spPr>
          <a:xfrm flipH="1">
            <a:off x="5576552" y="2073866"/>
            <a:ext cx="1996" cy="10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9F770E8-EF5C-4BE6-B3A0-C45C545EE160}"/>
              </a:ext>
            </a:extLst>
          </p:cNvPr>
          <p:cNvCxnSpPr/>
          <p:nvPr/>
        </p:nvCxnSpPr>
        <p:spPr>
          <a:xfrm flipH="1">
            <a:off x="7267887" y="2073049"/>
            <a:ext cx="1996" cy="10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037C00E-4892-4498-AC78-DCFDD20B1FE3}"/>
              </a:ext>
            </a:extLst>
          </p:cNvPr>
          <p:cNvCxnSpPr/>
          <p:nvPr/>
        </p:nvCxnSpPr>
        <p:spPr>
          <a:xfrm flipH="1">
            <a:off x="8959222" y="2073048"/>
            <a:ext cx="1996" cy="10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9816624-3477-43F7-BAD1-10462A41FDD0}"/>
              </a:ext>
            </a:extLst>
          </p:cNvPr>
          <p:cNvCxnSpPr>
            <a:cxnSpLocks/>
          </p:cNvCxnSpPr>
          <p:nvPr/>
        </p:nvCxnSpPr>
        <p:spPr>
          <a:xfrm>
            <a:off x="5576552" y="3701663"/>
            <a:ext cx="0" cy="1568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5352D499-3CD5-4389-9BB3-1279DACCB488}"/>
              </a:ext>
            </a:extLst>
          </p:cNvPr>
          <p:cNvSpPr/>
          <p:nvPr/>
        </p:nvSpPr>
        <p:spPr>
          <a:xfrm>
            <a:off x="4977944" y="5270271"/>
            <a:ext cx="6408756" cy="6153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计算优惠，取两位小数，和最小付费取最大值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8880030-50D1-4FAB-8FCC-7284988AC94C}"/>
              </a:ext>
            </a:extLst>
          </p:cNvPr>
          <p:cNvCxnSpPr/>
          <p:nvPr/>
        </p:nvCxnSpPr>
        <p:spPr>
          <a:xfrm>
            <a:off x="7267887" y="3701663"/>
            <a:ext cx="0" cy="67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9C923E43-BAB6-4F12-A14E-BBA96B6B25F5}"/>
              </a:ext>
            </a:extLst>
          </p:cNvPr>
          <p:cNvSpPr/>
          <p:nvPr/>
        </p:nvSpPr>
        <p:spPr>
          <a:xfrm>
            <a:off x="6522217" y="4375557"/>
            <a:ext cx="1491339" cy="4085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判断满减门槛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4438EC7-629E-4E9C-B3DE-A2D0290433DA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7267887" y="4784134"/>
            <a:ext cx="0" cy="486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8113BA5F-3D57-4688-9ABB-7097711B4098}"/>
              </a:ext>
            </a:extLst>
          </p:cNvPr>
          <p:cNvCxnSpPr/>
          <p:nvPr/>
        </p:nvCxnSpPr>
        <p:spPr>
          <a:xfrm>
            <a:off x="8959222" y="3749378"/>
            <a:ext cx="0" cy="1520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40151A15-0EE7-42ED-81F4-D625819BCA57}"/>
              </a:ext>
            </a:extLst>
          </p:cNvPr>
          <p:cNvSpPr/>
          <p:nvPr/>
        </p:nvSpPr>
        <p:spPr>
          <a:xfrm>
            <a:off x="9413553" y="2316934"/>
            <a:ext cx="2637287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重写类型判断，商品类型与优惠券类型差集需为空</a:t>
            </a: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9F97B07B-DA86-4CFE-98E0-CF741D91657B}"/>
              </a:ext>
            </a:extLst>
          </p:cNvPr>
          <p:cNvCxnSpPr>
            <a:cxnSpLocks/>
            <a:stCxn id="50" idx="2"/>
            <a:endCxn id="78" idx="0"/>
          </p:cNvCxnSpPr>
          <p:nvPr/>
        </p:nvCxnSpPr>
        <p:spPr>
          <a:xfrm>
            <a:off x="10720267" y="2073866"/>
            <a:ext cx="11930" cy="243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1C3EE0BA-A26A-4E12-AB1A-47DF4B82FF92}"/>
              </a:ext>
            </a:extLst>
          </p:cNvPr>
          <p:cNvCxnSpPr>
            <a:stCxn id="78" idx="2"/>
          </p:cNvCxnSpPr>
          <p:nvPr/>
        </p:nvCxnSpPr>
        <p:spPr>
          <a:xfrm>
            <a:off x="10732197" y="2803071"/>
            <a:ext cx="0" cy="352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572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权限扫描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F2B8DF-2D46-49B6-BC32-9B0B3F88C1E6}"/>
              </a:ext>
            </a:extLst>
          </p:cNvPr>
          <p:cNvSpPr txBox="1"/>
          <p:nvPr/>
        </p:nvSpPr>
        <p:spPr>
          <a:xfrm>
            <a:off x="476518" y="1442434"/>
            <a:ext cx="11436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提供注解、扫描以及远程调用</a:t>
            </a:r>
            <a:r>
              <a:rPr lang="en-US" altLang="zh-CN" dirty="0"/>
              <a:t>SDK</a:t>
            </a:r>
            <a:r>
              <a:rPr lang="zh-CN" altLang="en-US" dirty="0"/>
              <a:t>给其他服务，服务启动后开线程扫描获取</a:t>
            </a:r>
            <a:r>
              <a:rPr lang="en-US" altLang="zh-CN" dirty="0"/>
              <a:t>http</a:t>
            </a:r>
            <a:r>
              <a:rPr lang="zh-CN" altLang="en-US" dirty="0"/>
              <a:t>信息如</a:t>
            </a:r>
            <a:r>
              <a:rPr lang="en-US" altLang="zh-CN" dirty="0" err="1"/>
              <a:t>url</a:t>
            </a:r>
            <a:r>
              <a:rPr lang="zh-CN" altLang="en-US" dirty="0"/>
              <a:t>、</a:t>
            </a:r>
            <a:r>
              <a:rPr lang="en-US" altLang="zh-CN" dirty="0" err="1"/>
              <a:t>httpMethod</a:t>
            </a:r>
            <a:r>
              <a:rPr lang="zh-CN" altLang="en-US" dirty="0"/>
              <a:t>以及方法注解上的路径描述、读写权限、微服务名，收集后发往权限中心。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权限中心对外提供检测接口</a:t>
            </a:r>
          </a:p>
        </p:txBody>
      </p:sp>
    </p:spTree>
    <p:extLst>
      <p:ext uri="{BB962C8B-B14F-4D97-AF65-F5344CB8AC3E}">
        <p14:creationId xmlns:p14="http://schemas.microsoft.com/office/powerpoint/2010/main" val="3543471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创建权限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6505515" y="1126652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AF986F6-BF7A-41CD-A5FA-6B2604FF4AC9}"/>
              </a:ext>
            </a:extLst>
          </p:cNvPr>
          <p:cNvSpPr txBox="1"/>
          <p:nvPr/>
        </p:nvSpPr>
        <p:spPr>
          <a:xfrm>
            <a:off x="2671824" y="1072306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权限扫描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0B464A-EB55-43A4-B883-3170895FC996}"/>
              </a:ext>
            </a:extLst>
          </p:cNvPr>
          <p:cNvSpPr/>
          <p:nvPr/>
        </p:nvSpPr>
        <p:spPr>
          <a:xfrm>
            <a:off x="995793" y="1713052"/>
            <a:ext cx="4529776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实现</a:t>
            </a:r>
            <a:r>
              <a:rPr lang="en-US" altLang="zh-CN" sz="1600" dirty="0" err="1"/>
              <a:t>ApplicationListener</a:t>
            </a:r>
            <a:r>
              <a:rPr lang="en-US" altLang="zh-CN" sz="1600" dirty="0"/>
              <a:t>&lt;</a:t>
            </a:r>
            <a:r>
              <a:rPr lang="en-US" altLang="zh-CN" sz="1600" dirty="0" err="1"/>
              <a:t>ApplicationReadyEvent</a:t>
            </a:r>
            <a:r>
              <a:rPr lang="en-US" altLang="zh-CN" sz="1600" dirty="0"/>
              <a:t>&gt;</a:t>
            </a:r>
            <a:r>
              <a:rPr lang="zh-CN" altLang="en-US" sz="1600" dirty="0"/>
              <a:t>，服务启动自动执行，获取</a:t>
            </a:r>
            <a:r>
              <a:rPr lang="en-US" altLang="zh-CN" sz="1600" dirty="0" err="1"/>
              <a:t>ctx</a:t>
            </a:r>
            <a:r>
              <a:rPr lang="zh-CN" altLang="en-US" sz="1600" dirty="0"/>
              <a:t>异步扫描权限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5D0B80-1CC3-4728-9AE3-1FF36958ACF0}"/>
              </a:ext>
            </a:extLst>
          </p:cNvPr>
          <p:cNvSpPr txBox="1"/>
          <p:nvPr/>
        </p:nvSpPr>
        <p:spPr>
          <a:xfrm>
            <a:off x="7399841" y="1052396"/>
            <a:ext cx="1460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权限模块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BEC125-030D-4D37-9FD8-B043E9E9512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260681" y="2199189"/>
            <a:ext cx="7852" cy="271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41293478-BC33-4512-B287-8DD8C20AEDBE}"/>
              </a:ext>
            </a:extLst>
          </p:cNvPr>
          <p:cNvSpPr/>
          <p:nvPr/>
        </p:nvSpPr>
        <p:spPr>
          <a:xfrm>
            <a:off x="162039" y="2470603"/>
            <a:ext cx="6212988" cy="105849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从</a:t>
            </a:r>
            <a:r>
              <a:rPr lang="en-US" altLang="zh-CN" sz="1400" dirty="0" err="1"/>
              <a:t>ctx</a:t>
            </a:r>
            <a:r>
              <a:rPr lang="zh-CN" altLang="en-US" sz="1400" dirty="0"/>
              <a:t>获取</a:t>
            </a:r>
            <a:r>
              <a:rPr lang="en-US" altLang="zh-CN" sz="1400" dirty="0" err="1"/>
              <a:t>ctx</a:t>
            </a:r>
            <a:r>
              <a:rPr lang="zh-CN" altLang="en-US" sz="1400" dirty="0"/>
              <a:t>前缀</a:t>
            </a:r>
            <a:r>
              <a:rPr lang="en-US" altLang="zh-CN" sz="1400" dirty="0"/>
              <a:t>(/workflow), </a:t>
            </a:r>
            <a:r>
              <a:rPr lang="en-US" altLang="zh-CN" sz="1400" dirty="0" err="1"/>
              <a:t>ctx.getBean</a:t>
            </a:r>
            <a:r>
              <a:rPr lang="en-US" altLang="zh-CN" sz="1400" dirty="0"/>
              <a:t>(“</a:t>
            </a:r>
            <a:r>
              <a:rPr lang="en-US" altLang="zh-CN" sz="1400" dirty="0" err="1"/>
              <a:t>requestMappingHandlerMapping</a:t>
            </a:r>
            <a:r>
              <a:rPr lang="en-US" altLang="zh-CN" sz="1400" dirty="0"/>
              <a:t>”)</a:t>
            </a:r>
            <a:r>
              <a:rPr lang="zh-CN" altLang="en-US" sz="1400" dirty="0"/>
              <a:t>，该类负责映射</a:t>
            </a:r>
            <a:r>
              <a:rPr lang="en-US" altLang="zh-CN" sz="1400" dirty="0" err="1"/>
              <a:t>url</a:t>
            </a:r>
            <a:r>
              <a:rPr lang="zh-CN" altLang="en-US" sz="1400" dirty="0"/>
              <a:t>到</a:t>
            </a:r>
            <a:r>
              <a:rPr lang="en-US" altLang="zh-CN" sz="1400" dirty="0"/>
              <a:t>controller</a:t>
            </a:r>
            <a:r>
              <a:rPr lang="zh-CN" altLang="en-US" sz="1400" dirty="0"/>
              <a:t>层方法，它的</a:t>
            </a:r>
            <a:r>
              <a:rPr lang="en-US" altLang="zh-CN" sz="1400" dirty="0" err="1"/>
              <a:t>getHandlerMethods</a:t>
            </a:r>
            <a:r>
              <a:rPr lang="en-US" altLang="zh-CN" sz="1400" dirty="0"/>
              <a:t>()</a:t>
            </a:r>
            <a:r>
              <a:rPr lang="zh-CN" altLang="en-US" sz="1400" dirty="0"/>
              <a:t>可以获取</a:t>
            </a:r>
            <a:r>
              <a:rPr lang="en-US" altLang="zh-CN" sz="1400" dirty="0"/>
              <a:t>@RequestMapping</a:t>
            </a:r>
            <a:r>
              <a:rPr lang="zh-CN" altLang="en-US" sz="1400" dirty="0"/>
              <a:t>注解的</a:t>
            </a:r>
            <a:r>
              <a:rPr lang="en-US" altLang="zh-CN" sz="1400" dirty="0" err="1"/>
              <a:t>url</a:t>
            </a:r>
            <a:r>
              <a:rPr lang="zh-CN" altLang="en-US" sz="1400" dirty="0"/>
              <a:t>定义以及接口方法，</a:t>
            </a:r>
            <a:r>
              <a:rPr lang="en-US" altLang="zh-CN" sz="1400" dirty="0"/>
              <a:t>Map</a:t>
            </a:r>
            <a:r>
              <a:rPr lang="zh-CN" altLang="en-US" sz="1400" dirty="0"/>
              <a:t>结构逐个遍历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8C95A5-DE17-409F-A280-AD26FFFB6406}"/>
              </a:ext>
            </a:extLst>
          </p:cNvPr>
          <p:cNvSpPr/>
          <p:nvPr/>
        </p:nvSpPr>
        <p:spPr>
          <a:xfrm>
            <a:off x="162045" y="3790116"/>
            <a:ext cx="2684175" cy="8364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获取</a:t>
            </a:r>
            <a:r>
              <a:rPr lang="en-US" altLang="zh-CN" sz="1400" dirty="0" err="1"/>
              <a:t>javaMethod</a:t>
            </a:r>
            <a:r>
              <a:rPr lang="zh-CN" altLang="en-US" sz="1400" dirty="0"/>
              <a:t>对象，获取其类名，判断类名前缀只要</a:t>
            </a:r>
            <a:r>
              <a:rPr lang="en-US" altLang="zh-CN" sz="1400" dirty="0"/>
              <a:t>”</a:t>
            </a:r>
            <a:r>
              <a:rPr lang="en-US" altLang="zh-CN" sz="1400" dirty="0" err="1"/>
              <a:t>com.imooc.coupon</a:t>
            </a:r>
            <a:r>
              <a:rPr lang="en-US" altLang="zh-CN" sz="1400" dirty="0"/>
              <a:t>”</a:t>
            </a:r>
            <a:endParaRPr lang="zh-CN" altLang="en-US" sz="1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7711AB-C0B6-4889-AC6A-93611A66847B}"/>
              </a:ext>
            </a:extLst>
          </p:cNvPr>
          <p:cNvSpPr/>
          <p:nvPr/>
        </p:nvSpPr>
        <p:spPr>
          <a:xfrm>
            <a:off x="162039" y="4858653"/>
            <a:ext cx="2684181" cy="8364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从</a:t>
            </a:r>
            <a:r>
              <a:rPr lang="en-US" altLang="zh-CN" sz="1400" dirty="0" err="1"/>
              <a:t>javaMethod</a:t>
            </a:r>
            <a:r>
              <a:rPr lang="zh-CN" altLang="en-US" sz="1400" dirty="0"/>
              <a:t>中获取忽略权限注解，不为空打印，再获取权限注解为空打印返回空集合</a:t>
            </a:r>
            <a:r>
              <a:rPr lang="en-US" altLang="zh-CN" sz="1400" dirty="0"/>
              <a:t>(</a:t>
            </a:r>
            <a:r>
              <a:rPr lang="zh-CN" altLang="en-US" sz="1400" dirty="0"/>
              <a:t>规定都要写注解，不写只打印后者</a:t>
            </a:r>
            <a:r>
              <a:rPr lang="en-US" altLang="zh-CN" sz="1400" dirty="0"/>
              <a:t>)</a:t>
            </a:r>
            <a:endParaRPr lang="zh-CN" altLang="en-US" sz="1400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E025565-8556-47B9-8C88-330BD0A32879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504133" y="3558037"/>
            <a:ext cx="0" cy="23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DDC85A8-AE83-4C5C-BA6D-85FBD519DE33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1504130" y="4626574"/>
            <a:ext cx="3" cy="23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05D108A-8257-48C0-A457-5B5B95B4E0A0}"/>
              </a:ext>
            </a:extLst>
          </p:cNvPr>
          <p:cNvSpPr/>
          <p:nvPr/>
        </p:nvSpPr>
        <p:spPr>
          <a:xfrm>
            <a:off x="162039" y="6027313"/>
            <a:ext cx="2684177" cy="7033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获取</a:t>
            </a:r>
            <a:r>
              <a:rPr lang="en-US" altLang="zh-CN" sz="1400" dirty="0" err="1"/>
              <a:t>httpMethod</a:t>
            </a:r>
            <a:r>
              <a:rPr lang="en-US" altLang="zh-CN" sz="1400" dirty="0"/>
              <a:t>(</a:t>
            </a:r>
            <a:r>
              <a:rPr lang="zh-CN" altLang="en-US" sz="1400" dirty="0"/>
              <a:t>无则全类型</a:t>
            </a:r>
            <a:r>
              <a:rPr lang="en-US" altLang="zh-CN" sz="1400" dirty="0"/>
              <a:t>)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url</a:t>
            </a:r>
            <a:r>
              <a:rPr lang="en-US" altLang="zh-CN" sz="1400" dirty="0"/>
              <a:t>(</a:t>
            </a:r>
            <a:r>
              <a:rPr lang="zh-CN" altLang="en-US" sz="1400" dirty="0"/>
              <a:t>拼接上下文前缀</a:t>
            </a:r>
            <a:r>
              <a:rPr lang="en-US" altLang="zh-CN" sz="1400" dirty="0"/>
              <a:t>)</a:t>
            </a:r>
            <a:r>
              <a:rPr lang="zh-CN" altLang="en-US" sz="1400" dirty="0"/>
              <a:t>获取权限注解信息，构造半完整权限信息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24F71C3-7C78-4A8D-A1AB-B8EA1F491F26}"/>
              </a:ext>
            </a:extLst>
          </p:cNvPr>
          <p:cNvCxnSpPr>
            <a:stCxn id="16" idx="2"/>
            <a:endCxn id="34" idx="0"/>
          </p:cNvCxnSpPr>
          <p:nvPr/>
        </p:nvCxnSpPr>
        <p:spPr>
          <a:xfrm flipH="1">
            <a:off x="1504128" y="5695111"/>
            <a:ext cx="2" cy="332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956CB52F-987A-4C89-964E-FA801C89E98D}"/>
              </a:ext>
            </a:extLst>
          </p:cNvPr>
          <p:cNvSpPr/>
          <p:nvPr/>
        </p:nvSpPr>
        <p:spPr>
          <a:xfrm>
            <a:off x="3635074" y="3790116"/>
            <a:ext cx="2684174" cy="8364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获取服务名，构成完整权限信息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9D85C4C2-47CE-4629-B04C-E26F53D59D09}"/>
              </a:ext>
            </a:extLst>
          </p:cNvPr>
          <p:cNvCxnSpPr>
            <a:stCxn id="34" idx="3"/>
            <a:endCxn id="37" idx="1"/>
          </p:cNvCxnSpPr>
          <p:nvPr/>
        </p:nvCxnSpPr>
        <p:spPr>
          <a:xfrm flipV="1">
            <a:off x="2846216" y="4208345"/>
            <a:ext cx="788858" cy="21706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241E528B-E76A-49A5-BAA3-8BB3087B6860}"/>
              </a:ext>
            </a:extLst>
          </p:cNvPr>
          <p:cNvSpPr/>
          <p:nvPr/>
        </p:nvSpPr>
        <p:spPr>
          <a:xfrm>
            <a:off x="6903076" y="1713051"/>
            <a:ext cx="2162915" cy="60514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查询该服务的路径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C30B7EC-CE2A-4DA7-A039-8E028FC78E12}"/>
              </a:ext>
            </a:extLst>
          </p:cNvPr>
          <p:cNvSpPr/>
          <p:nvPr/>
        </p:nvSpPr>
        <p:spPr>
          <a:xfrm>
            <a:off x="6903064" y="2954534"/>
            <a:ext cx="2162915" cy="60514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过滤</a:t>
            </a:r>
            <a:r>
              <a:rPr lang="en-US" altLang="zh-CN" sz="1600" dirty="0" err="1"/>
              <a:t>url</a:t>
            </a:r>
            <a:r>
              <a:rPr lang="zh-CN" altLang="en-US" sz="1600" dirty="0"/>
              <a:t>和</a:t>
            </a:r>
            <a:r>
              <a:rPr lang="en-US" altLang="zh-CN" sz="1600" dirty="0" err="1"/>
              <a:t>httpMethod</a:t>
            </a:r>
            <a:r>
              <a:rPr lang="zh-CN" altLang="en-US" sz="1600" dirty="0"/>
              <a:t>相同的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6602547-2E43-46C0-A8D5-16F2BF21EAEC}"/>
              </a:ext>
            </a:extLst>
          </p:cNvPr>
          <p:cNvSpPr/>
          <p:nvPr/>
        </p:nvSpPr>
        <p:spPr>
          <a:xfrm>
            <a:off x="6903064" y="4347629"/>
            <a:ext cx="2162915" cy="74968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剩下的保存入数据库</a:t>
            </a: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3AE69BB4-A500-4EE7-8E8F-4E30F04DA2B4}"/>
              </a:ext>
            </a:extLst>
          </p:cNvPr>
          <p:cNvCxnSpPr>
            <a:stCxn id="37" idx="3"/>
            <a:endCxn id="44" idx="1"/>
          </p:cNvCxnSpPr>
          <p:nvPr/>
        </p:nvCxnSpPr>
        <p:spPr>
          <a:xfrm flipV="1">
            <a:off x="6319248" y="2015624"/>
            <a:ext cx="583828" cy="21927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F4BD337-9C16-441C-95AC-302996F41073}"/>
              </a:ext>
            </a:extLst>
          </p:cNvPr>
          <p:cNvCxnSpPr>
            <a:stCxn id="44" idx="2"/>
            <a:endCxn id="46" idx="0"/>
          </p:cNvCxnSpPr>
          <p:nvPr/>
        </p:nvCxnSpPr>
        <p:spPr>
          <a:xfrm flipH="1">
            <a:off x="7984522" y="2318197"/>
            <a:ext cx="12" cy="636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E4134D4-83A5-4B3F-A21F-E555657670B3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>
            <a:off x="7984522" y="3559680"/>
            <a:ext cx="0" cy="787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2B8ACBC-17DC-4EE9-9F71-C4A3C74A3D79}"/>
              </a:ext>
            </a:extLst>
          </p:cNvPr>
          <p:cNvCxnSpPr>
            <a:stCxn id="47" idx="1"/>
          </p:cNvCxnSpPr>
          <p:nvPr/>
        </p:nvCxnSpPr>
        <p:spPr>
          <a:xfrm flipH="1" flipV="1">
            <a:off x="6319248" y="4481848"/>
            <a:ext cx="583816" cy="240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DF54BA32-38BF-4C71-8D68-7055E14D244F}"/>
              </a:ext>
            </a:extLst>
          </p:cNvPr>
          <p:cNvSpPr txBox="1"/>
          <p:nvPr/>
        </p:nvSpPr>
        <p:spPr>
          <a:xfrm>
            <a:off x="7399841" y="5602310"/>
            <a:ext cx="4100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权限注解可考虑加角色字段，方便写入数据库时绑定，且可以考虑存一份</a:t>
            </a:r>
            <a:r>
              <a:rPr lang="en-US" altLang="zh-CN" dirty="0" err="1"/>
              <a:t>redis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4011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956A06-32FB-4D15-98C9-6CAB402C561A}"/>
              </a:ext>
            </a:extLst>
          </p:cNvPr>
          <p:cNvSpPr/>
          <p:nvPr/>
        </p:nvSpPr>
        <p:spPr>
          <a:xfrm>
            <a:off x="162046" y="127322"/>
            <a:ext cx="11898774" cy="7523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检查方法权限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EC58E76-6288-4E0B-88F5-34CB7D58B7D4}"/>
              </a:ext>
            </a:extLst>
          </p:cNvPr>
          <p:cNvCxnSpPr/>
          <p:nvPr/>
        </p:nvCxnSpPr>
        <p:spPr>
          <a:xfrm>
            <a:off x="1896780" y="1179798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4EE8637-AD69-4724-B140-D91C32478693}"/>
              </a:ext>
            </a:extLst>
          </p:cNvPr>
          <p:cNvCxnSpPr>
            <a:cxnSpLocks/>
          </p:cNvCxnSpPr>
          <p:nvPr/>
        </p:nvCxnSpPr>
        <p:spPr>
          <a:xfrm>
            <a:off x="4595149" y="1203767"/>
            <a:ext cx="0" cy="5139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FBB8E23-1EA3-44B3-84D1-05BB2E1B2114}"/>
              </a:ext>
            </a:extLst>
          </p:cNvPr>
          <p:cNvSpPr/>
          <p:nvPr/>
        </p:nvSpPr>
        <p:spPr>
          <a:xfrm>
            <a:off x="42439" y="1354238"/>
            <a:ext cx="1253923" cy="47456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B0B27897-C7D0-4AEA-9AD3-958B9583330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117362" y="1956122"/>
            <a:ext cx="12008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AF986F6-BF7A-41CD-A5FA-6B2604FF4AC9}"/>
              </a:ext>
            </a:extLst>
          </p:cNvPr>
          <p:cNvSpPr txBox="1"/>
          <p:nvPr/>
        </p:nvSpPr>
        <p:spPr>
          <a:xfrm>
            <a:off x="2671824" y="1072306"/>
            <a:ext cx="12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网关模块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0B464A-EB55-43A4-B883-3170895FC996}"/>
              </a:ext>
            </a:extLst>
          </p:cNvPr>
          <p:cNvSpPr/>
          <p:nvPr/>
        </p:nvSpPr>
        <p:spPr>
          <a:xfrm>
            <a:off x="2318199" y="1713053"/>
            <a:ext cx="1490278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调用方法权限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163C565-DA24-4900-8ABF-FB4113386110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3808477" y="1956122"/>
            <a:ext cx="2287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DBE21F25-2EE0-47C7-B95B-DFDC5A71A48C}"/>
              </a:ext>
            </a:extLst>
          </p:cNvPr>
          <p:cNvSpPr/>
          <p:nvPr/>
        </p:nvSpPr>
        <p:spPr>
          <a:xfrm>
            <a:off x="6095999" y="1713053"/>
            <a:ext cx="2004808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findAllRoleByUserId</a:t>
            </a:r>
            <a:endParaRPr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8F5C1A-4A6C-466D-A378-1124B72AFBC1}"/>
              </a:ext>
            </a:extLst>
          </p:cNvPr>
          <p:cNvSpPr txBox="1"/>
          <p:nvPr/>
        </p:nvSpPr>
        <p:spPr>
          <a:xfrm>
            <a:off x="3876757" y="1567163"/>
            <a:ext cx="2150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userId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uri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httpMethod</a:t>
            </a:r>
            <a:endParaRPr lang="zh-CN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4312449-BDD7-44A3-B235-BF25CE0B6A89}"/>
              </a:ext>
            </a:extLst>
          </p:cNvPr>
          <p:cNvSpPr/>
          <p:nvPr/>
        </p:nvSpPr>
        <p:spPr>
          <a:xfrm>
            <a:off x="4772029" y="2708317"/>
            <a:ext cx="2287513" cy="48613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含超级管理员返回</a:t>
            </a:r>
            <a:r>
              <a:rPr lang="en-US" altLang="zh-CN" sz="1600" dirty="0"/>
              <a:t>true</a:t>
            </a:r>
            <a:endParaRPr lang="zh-CN" altLang="en-US" sz="1600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F72596E-477E-4A31-B532-4A881AAF3009}"/>
              </a:ext>
            </a:extLst>
          </p:cNvPr>
          <p:cNvCxnSpPr/>
          <p:nvPr/>
        </p:nvCxnSpPr>
        <p:spPr>
          <a:xfrm>
            <a:off x="6284890" y="2199190"/>
            <a:ext cx="0" cy="509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48866FA-8F79-4DEB-8132-D0464F4A7DC6}"/>
              </a:ext>
            </a:extLst>
          </p:cNvPr>
          <p:cNvCxnSpPr/>
          <p:nvPr/>
        </p:nvCxnSpPr>
        <p:spPr>
          <a:xfrm>
            <a:off x="7714445" y="2199190"/>
            <a:ext cx="0" cy="1229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1FA72E36-7420-4A07-B354-C6D5520934AB}"/>
              </a:ext>
            </a:extLst>
          </p:cNvPr>
          <p:cNvSpPr/>
          <p:nvPr/>
        </p:nvSpPr>
        <p:spPr>
          <a:xfrm>
            <a:off x="6838682" y="3429000"/>
            <a:ext cx="2189398" cy="75219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</a:t>
            </a:r>
            <a:r>
              <a:rPr lang="en-US" altLang="zh-CN" dirty="0" err="1"/>
              <a:t>uri</a:t>
            </a:r>
            <a:r>
              <a:rPr lang="zh-CN" altLang="en-US" dirty="0"/>
              <a:t>和</a:t>
            </a:r>
            <a:r>
              <a:rPr lang="en-US" altLang="zh-CN" dirty="0" err="1"/>
              <a:t>httpMethod</a:t>
            </a:r>
            <a:r>
              <a:rPr lang="zh-CN" altLang="en-US" dirty="0"/>
              <a:t>查路径信息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3C4CB51-2EE5-47CE-94F9-CC9DE0A758C7}"/>
              </a:ext>
            </a:extLst>
          </p:cNvPr>
          <p:cNvCxnSpPr/>
          <p:nvPr/>
        </p:nvCxnSpPr>
        <p:spPr>
          <a:xfrm>
            <a:off x="7714445" y="4181194"/>
            <a:ext cx="0" cy="558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C712A4C-FE7D-42B6-98F4-78BD853CA4B0}"/>
              </a:ext>
            </a:extLst>
          </p:cNvPr>
          <p:cNvSpPr/>
          <p:nvPr/>
        </p:nvSpPr>
        <p:spPr>
          <a:xfrm>
            <a:off x="6838680" y="4739425"/>
            <a:ext cx="2189398" cy="75219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查路径和角色绑定表是否存在记录，返回结果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2939F0-026C-475D-A2AA-5A5B22B161AB}"/>
              </a:ext>
            </a:extLst>
          </p:cNvPr>
          <p:cNvSpPr/>
          <p:nvPr/>
        </p:nvSpPr>
        <p:spPr>
          <a:xfrm>
            <a:off x="2318199" y="2708317"/>
            <a:ext cx="1558550" cy="278329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true</a:t>
            </a:r>
            <a:r>
              <a:rPr lang="zh-CN" altLang="en-US" dirty="0"/>
              <a:t>往下调用，否则直接返回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866F4B52-5172-4DBA-A8C7-DB8D89059B0A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3876749" y="2951386"/>
            <a:ext cx="895280" cy="1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445762B-2DA9-45BF-9EF2-60FE4AC47281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3876749" y="5115522"/>
            <a:ext cx="29619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01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1141</Words>
  <Application>Microsoft Office PowerPoint</Application>
  <PresentationFormat>宽屏</PresentationFormat>
  <Paragraphs>144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 福锋</dc:creator>
  <cp:lastModifiedBy>周 福锋</cp:lastModifiedBy>
  <cp:revision>69</cp:revision>
  <dcterms:created xsi:type="dcterms:W3CDTF">2020-10-13T08:42:47Z</dcterms:created>
  <dcterms:modified xsi:type="dcterms:W3CDTF">2020-10-18T15:54:50Z</dcterms:modified>
</cp:coreProperties>
</file>